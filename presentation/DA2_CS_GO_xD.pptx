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9034e583ca24f16" /><Relationship Type="http://schemas.openxmlformats.org/officeDocument/2006/relationships/extended-properties" Target="/docProps/app.xml" Id="R658f0420f8224bfc" /><Relationship Type="http://schemas.openxmlformats.org/officeDocument/2006/relationships/officeDocument" Target="/ppt/presentation.xml" Id="Rb27c05e6eb0f4c59" /></Relationships>
</file>

<file path=ppt/presentation.xml><?xml version="1.0" encoding="utf-8"?>
<p:presentation xmlns:p="http://schemas.openxmlformats.org/presentationml/2006/main">
  <p:sldMasterIdLst>
    <p:sldMasterId xmlns:r="http://schemas.openxmlformats.org/officeDocument/2006/relationships" id="2147483648" r:id="Rf6343166ffc1452c"/>
  </p:sldMasterIdLst>
  <p:notesMasterIdLst>
    <p:notesMasterId xmlns:r="http://schemas.openxmlformats.org/officeDocument/2006/relationships" r:id="R72e6000a25d24ee2"/>
  </p:notesMasterIdLst>
  <p:sldIdLst>
    <p:sldId xmlns:r="http://schemas.openxmlformats.org/officeDocument/2006/relationships" id="256" r:id="Rd036a3e5b5b9449d"/>
    <p:sldId xmlns:r="http://schemas.openxmlformats.org/officeDocument/2006/relationships" id="257" r:id="R62cc93df54974bdc"/>
    <p:sldId xmlns:r="http://schemas.openxmlformats.org/officeDocument/2006/relationships" id="258" r:id="R83420780c212471a"/>
    <p:sldId xmlns:r="http://schemas.openxmlformats.org/officeDocument/2006/relationships" id="259" r:id="R9ed87a8be6cd4cf1"/>
    <p:sldId xmlns:r="http://schemas.openxmlformats.org/officeDocument/2006/relationships" id="260" r:id="R5a89e872f37e4e95"/>
    <p:sldId xmlns:r="http://schemas.openxmlformats.org/officeDocument/2006/relationships" id="261" r:id="R9af1acecfdbf4566"/>
    <p:sldId xmlns:r="http://schemas.openxmlformats.org/officeDocument/2006/relationships" id="262" r:id="R865a71ce164b419c"/>
    <p:sldId xmlns:r="http://schemas.openxmlformats.org/officeDocument/2006/relationships" id="263" r:id="R3cd3e5d828714db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db892661c554243" /><Relationship Type="http://schemas.openxmlformats.org/officeDocument/2006/relationships/slideMaster" Target="/ppt/slideMasters/slideMaster1.xml" Id="Rf6343166ffc1452c" /><Relationship Type="http://schemas.openxmlformats.org/officeDocument/2006/relationships/notesMaster" Target="/ppt/notesMasters/notesMaster1.xml" Id="R72e6000a25d24ee2" /><Relationship Type="http://schemas.openxmlformats.org/officeDocument/2006/relationships/presProps" Target="/ppt/presProps.xml" Id="R9fe1383d3a194641" /><Relationship Type="http://schemas.openxmlformats.org/officeDocument/2006/relationships/tableStyles" Target="/ppt/tableStyles.xml" Id="Re16ea07c48d94af1" /><Relationship Type="http://schemas.openxmlformats.org/officeDocument/2006/relationships/slide" Target="/ppt/slides/slide1.xml" Id="Rd036a3e5b5b9449d" /><Relationship Type="http://schemas.openxmlformats.org/officeDocument/2006/relationships/slide" Target="/ppt/slides/slide2.xml" Id="R62cc93df54974bdc" /><Relationship Type="http://schemas.openxmlformats.org/officeDocument/2006/relationships/slide" Target="/ppt/slides/slide3.xml" Id="R83420780c212471a" /><Relationship Type="http://schemas.openxmlformats.org/officeDocument/2006/relationships/slide" Target="/ppt/slides/slide4.xml" Id="R9ed87a8be6cd4cf1" /><Relationship Type="http://schemas.openxmlformats.org/officeDocument/2006/relationships/slide" Target="/ppt/slides/slide5.xml" Id="R5a89e872f37e4e95" /><Relationship Type="http://schemas.openxmlformats.org/officeDocument/2006/relationships/slide" Target="/ppt/slides/slide6.xml" Id="R9af1acecfdbf4566" /><Relationship Type="http://schemas.openxmlformats.org/officeDocument/2006/relationships/slide" Target="/ppt/slides/slide7.xml" Id="R865a71ce164b419c" /><Relationship Type="http://schemas.openxmlformats.org/officeDocument/2006/relationships/slide" Target="/ppt/slides/slide8.xml" Id="R3cd3e5d828714d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d939bc6bbec42f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07b60f1b67d4e91" /><Relationship Type="http://schemas.openxmlformats.org/officeDocument/2006/relationships/notesMaster" Target="/ppt/notesMasters/notesMaster1.xml" Id="R9255be88147643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f775ac7a7a4caf" /><Relationship Type="http://schemas.openxmlformats.org/officeDocument/2006/relationships/notesMaster" Target="/ppt/notesMasters/notesMaster1.xml" Id="R72e3912c78ba40d4"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c874bf8b624ffa" /><Relationship Type="http://schemas.openxmlformats.org/officeDocument/2006/relationships/notesMaster" Target="/ppt/notesMasters/notesMaster1.xml" Id="Reba46cfaeb974cbd" /></Relationships>
</file>

<file path=ppt/notesSlides/_rels/notesSlide4.xml.rels>&#65279;<?xml version="1.0" encoding="utf-8"?><Relationships xmlns="http://schemas.openxmlformats.org/package/2006/relationships"><Relationship Type="http://schemas.openxmlformats.org/officeDocument/2006/relationships/slide" Target="/ppt/slides/slide4.xml" Id="R280270058ce240da" /><Relationship Type="http://schemas.openxmlformats.org/officeDocument/2006/relationships/notesMaster" Target="/ppt/notesMasters/notesMaster1.xml" Id="R1e43d758b0cc47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d4117270c34491c" /><Relationship Type="http://schemas.openxmlformats.org/officeDocument/2006/relationships/notesMaster" Target="/ppt/notesMasters/notesMaster1.xml" Id="R6e570f0b75a44f8d" /></Relationships>
</file>

<file path=ppt/notesSlides/_rels/notesSlide6.xml.rels>&#65279;<?xml version="1.0" encoding="utf-8"?><Relationships xmlns="http://schemas.openxmlformats.org/package/2006/relationships"><Relationship Type="http://schemas.openxmlformats.org/officeDocument/2006/relationships/slide" Target="/ppt/slides/slide6.xml" Id="R55d6e7bfdcf34db3" /><Relationship Type="http://schemas.openxmlformats.org/officeDocument/2006/relationships/notesMaster" Target="/ppt/notesMasters/notesMaster1.xml" Id="Rc473b563c5124774"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f531c44ad54bbc" /><Relationship Type="http://schemas.openxmlformats.org/officeDocument/2006/relationships/notesMaster" Target="/ppt/notesMasters/notesMaster1.xml" Id="R55a4ff993a514104" /></Relationships>
</file>

<file path=ppt/notesSlides/_rels/notesSlide8.xml.rels>&#65279;<?xml version="1.0" encoding="utf-8"?><Relationships xmlns="http://schemas.openxmlformats.org/package/2006/relationships"><Relationship Type="http://schemas.openxmlformats.org/officeDocument/2006/relationships/slide" Target="/ppt/slides/slide8.xml" Id="R0409ccae7cd94c19" /><Relationship Type="http://schemas.openxmlformats.org/officeDocument/2006/relationships/notesMaster" Target="/ppt/notesMasters/notesMaster1.xml" Id="Rf9d064b492f4477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about 45 seconds. We estimate the expected health-plus-armor damage for a recorded hostile-player hit, then compare observed damage with that expectation on map grids. For example, a rifle chest hit delivering 30 points may be ordinary, while the same amount has a different meaning for another weapon and hitbox. The measurable objective is conditional expected damage, xD. The dataset does not supply the opportunity and lethal outcome labels needed for calibrated expected kills. Explain this scope clearly if asked about the original xK idea. Related work: Anzer and Bauer, 2021, doi:10.3389/fspor.2021.624475 for the expected-outcome analogy. Xenopoulos et al., arXiv:2011.01324 for CS:GO action valuation. Source support image: local paper/figures/panels/XGBoost_events.png, from held-out cached events and the archive radar. Project evidence: results/run_manifest.json, results/model_comparison.csv, results/import_audit.csv, paper/CSGO_xD_Research_Paper.docx. DA2 criteria: Project Plan (1).ppt, slides 11 and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65 seconds. The CSV archive contains two damage parts. We do not concatenate all rows in RAM. readr streams required columns and data.table cleans each chunk. DBI writes clean rows inside a per-file SQLite transaction, which allows an interrupted file to roll back. Cleaning excludes missing or nonfinite values, invalid damage ranges, same-side events, unusable coordinates and invalid context. Explain that cleaning defines a population and may exclude unusual legitimate records. SQLite stores events and an imports audit table, with an index on file for retrieval. SQL sampling uses parameterized queries. Production has 10,279,321 retained rows. The memory-oriented analysis samples 59,763 events and fits on 20,000 training rows. The sample is map-balanced and capped per match, not a population frequency estimator. The stored database is about 2.17 GB, which is disk usage rather than measured RAM. Demonstrate demo_database() to show dbConnect, dbListTables and actual dbGetQuery results. Data source https://www.kaggle.com/datasets/skihikingkevin/csgo-matchmaking-damage. Sources: database.R, pipeline.R, results/import_audit.csv. Project evidence: results/run_manifest.json, results/model_comparison.csv, results/import_audit.csv, paper/CSGO_xD_Research_Paper.docx. DA2 criteria: Project Plan (1).ppt, slides 11 and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70 seconds. Target y equals hp_dmg plus arm_dmg. This target and its components never enter the input feature matrix. Distance is sqrt((att_x-vic_x)^2 + (att_y-vic_y)^2). log1p handles distance without a log-zero problem. Time bins use 20 and 60 seconds, but parser time has not been independently verified as a tactical phase. Categorical features include map, weapon, weapon class, observed hitbox, attacker side, bomb site and time bin. Each field retains up to 25 training levels with an omitted reference level. Unseen or rare levels get the reference encoding. We remove zero-variance columns and sequentially remove numeric columns with absolute correlation above .98. We standardize using training means and standard deviations. The frozen preprocessor has 56 features. Permutation importance shuffles one selected model feature on validation rows and measures the increase in MAE. It is a diagnostic, not an additional test-driven selection stage or causal explanation. Highly dependent predictors can distort importance. Sources: R/preprocess.R, config.R, results/selected_features.csv, results/permutation_importance.csv. Project evidence: results/run_manifest.json, results/model_comparison.csv, results/import_audit.csv, paper/CSGO_xD_Research_Paper.docx. DA2 criteria: Project Plan (1).ppt, slides 11 and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75 seconds. All twelve methods completed. The additional training-only weapon-by-hitbox mean is a baseline and remains eligible for selection. Twelve methods include related ridge/lasso/elastic-net variants and two forest variants. Do not describe them as twelve unrelated model families or claim a deep network. stats::lm.fit supplies OLS; glmnet supplies the regularized models; rpart supplies CART; ranger supplies random forest and extra trees; gbm supplies gradient boosting; xgboost supplies XGBoost; earth supplies MARS; mgcv::bam supplies GAM; nnet supplies a shallow neural network. Tuning details: choose lambda from the glmnet path on validation MAE, alpha fixed at 0/1/.5. CART cp .005/.02 and depth &lt;=8. Forest node size 10/30 with 150 trees and depth &lt;=12. GBM depth 2/4 with 200 trees. XGBoost depth 3/5, learning rate .05, at most 250 rounds, patience 20, histogram method, two threads, row/column sampling .8. Selected depth is 5. MARS degree 1/2 and at most 40 candidate basis terms. GAM uses small bases and exact prediction after discretized fitting. Neural net has 5/10 hidden units, 150 iterations and decay .05. Small grids bound runtime. These are chosen bounds, not exhaustive optimization. Source R/models.R and models/XGBoost_tuning.json. Project evidence: results/run_manifest.json, results/model_comparison.csv, results/import_audit.csv, paper/CSGO_xD_Research_Paper.docx. DA2 criteria: Project Plan (1).ppt, slides 11 and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85 seconds. Seed 42 fixes sampling and splitting. We split match identities, approximately 70/15/15 within each map where possible. All events of one sampled match share a partition. The training partition contains 43,763 rows from 176 matches, but the common fitting subset caps at 20,000 rows. Validation and test have 8,000 rows from 32 matches each. Train-only preprocessing protects validation and test. Validation MAE selects XGBoost at 8.897. Test MAE is 9.116, RMSE 14.692 and R2 .701. MAE is mean absolute error in damage points. RMSE penalizes large errors more strongly. R2 compares squared error with predicting the test mean and is not 70.1 percent classification accuracy. The decile chart is regression calibration: average actual versus average predicted damage, not probability calibration. Each decile contains 800 events. Bootstrap resamples 32 test matches with replacement 500 times, preserving within-match dependence and recombining sufficient statistics. Intervals are conditional on this fitted model and sample and exclude refitting uncertainty. Source R/statistics.R, pipeline.R, results/model_comparison.csv, results/baseline_metrics.json, results/eda/regression_calibration.csv. Project evidence: results/run_manifest.json, results/model_comparison.csv, results/import_audit.csv, paper/CSGO_xD_Research_Paper.docx. DA2 criteria: Project Plan (1).ppt, slides 11 and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70 seconds. Each map uses an independent 40 by 40 grid and calibrated world-coordinate bounds from map_data.csv. X and Y scales are independent and game Y points upward. We aggregate held-out predicted damage, actual damage and actual-minus-predicted residuals at attacker locations. Actual/expected layers share a 0 to 200 display range and residuals share -100 to 100. Colors are display clipping only, not edits to numerical results. Red residuals mean actual exceeded predicted. Blue residuals mean actual was below predicted. We omit mean cells with fewer than five events or fewer than two distinct matches. Blank cells can mean insufficient evidence, not zero danger. Count maps show recorded sampled hits, not time spent or exposure. We produce 224 PNGs across eight maps for twelve methods plus the baseline, including shared actual/count layers and per-model expected/residual layers. Nuke lacks archive calibration and appears as a world-coordinate schematic. Planar maps cannot separate floors. This does not establish that a location causes damage or player skill. Source heatmaps.R, results/heatmap_support.csv and results/heatmaps/. Project evidence: results/run_manifest.json, results/model_comparison.csv, results/import_audit.csv, paper/CSGO_xD_Research_Paper.docx. DA2 criteria: Project Plan (1).ppt, slides 11 and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80 seconds. The comparison covers every successful method on the same held-out rows. Selection still uses validation MAE, not whichever test metric is best. XGBoost's measured test improvement over the weapon-hitbox mean is only .050768 damage points, about .55 percent of baseline MAE. The paired improvement interval crosses zero and the Holm-adjusted p-value is .6866. Therefore this run does not establish superiority. The baseline RMSE and R2 are slightly better, illustrating that different losses rank models differently. We apply a match-level paired sign-flip test with 500 repeats and Holm correction across twelve comparisons. Some learners are significantly worse; a low p-value alone does not mean improvement. The EDA chart describes the map-balanced capped sample: rifles account for 30,168 events or about 50.48 percent. It does not estimate full-population weapon shares. Separate ordinary plots cover distributions, boxplots, distance, timing, correlations, feature importance, residuals and regression calibration. Three Plotly charts support hover and interaction offline. ROC, precision-recall and confusion matrices require labeled classes and probabilities, so converting this continuous target to an arbitrary class would change the task. Source visualizations.R, results/model_comparison.csv, results/eda/summary_wide.csv, R/statistics.R. Project evidence: results/run_manifest.json, results/model_comparison.csv, results/import_audit.csv, paper/CSGO_xD_Research_Paper.docx. DA2 criteria: Project Plan (1).ppt, slides 11 and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50 seconds plus a 3 to 4 minute live demonstration. This is a status review: the core DA2 items are implemented and we show concrete artifacts, rather than assign an invented project-completion percentage. Open the RStudio project before the presentation. Run source("presentation/live_demo.R"), demo_preflight(), demo_database(), demo_predict(10), demo_results(), demo_plot("expected"), demo_plot("residual") and demo_gallery() one at a time. demo_database uses a real read-only SQLite connection, and demo_predict performs fresh inference using the saved model and frozen preprocessing on previously held-out rows. Explain that inference is live while the expensive fitting happened during preparation. The plots and committed metrics are production artifacts. The ten-row batch MAE is a demonstration value and must not replace the 8,000-row test MAE. A fresh GitHub clone contains the snapshot but excludes the large database, raw archive and models. Prepare them locally with the documented production run. Do not install packages, import millions of rows or train all twelve learners during a short classroom slot. This device uses Windows R 4.6.1. Native Linux execution and peak native RAM remain unverified. Future xK requires reliable player linkage, lethal/nonlethal opportunity labels, misses, exposure, pre-hit health and armor. The original damage-only data cannot support that claim. Sources: presentation/live_demo.R, README.md, VALIDATION.md, GitHub repository https://github.com/Caust2c/csgo-xd. Project evidence: results/run_manifest.json, results/model_comparison.csv, results/import_audit.csv, paper/CSGO_xD_Research_Paper.docx. DA2 criteria: Project Plan (1).ppt, slides 11 and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ad23c74ab2496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207614e8e34254" /><Relationship Type="http://schemas.openxmlformats.org/officeDocument/2006/relationships/slideLayout" Target="/ppt/slideLayouts/slideLayout1.xml" Id="R5513bf55eef747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13bf55eef747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6553e155c3441f1" /><Relationship Type="http://schemas.openxmlformats.org/officeDocument/2006/relationships/image" Target="/ppt/media/image.png" Id="Rfbecd2c7cf1e4862" /><Relationship Type="http://schemas.openxmlformats.org/officeDocument/2006/relationships/notesSlide" Target="/ppt/notesSlides/notesSlide1.xml" Id="Rf34d1d8d42584a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899927987604cae" /><Relationship Type="http://schemas.openxmlformats.org/officeDocument/2006/relationships/notesSlide" Target="/ppt/notesSlides/notesSlide2.xml" Id="R521e9c67238343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a12cea2441b4730" /><Relationship Type="http://schemas.openxmlformats.org/officeDocument/2006/relationships/chart" Target="/ppt/slides/charts/chart1.xml" Id="R3c41997c36614a93" /><Relationship Type="http://schemas.openxmlformats.org/officeDocument/2006/relationships/notesSlide" Target="/ppt/notesSlides/notesSlide3.xml" Id="Re4ebbb3fa9ca4c5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bec7b23cff34104" /><Relationship Type="http://schemas.openxmlformats.org/officeDocument/2006/relationships/notesSlide" Target="/ppt/notesSlides/notesSlide4.xml" Id="R22719551c04346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06e98e22af444ab" /><Relationship Type="http://schemas.openxmlformats.org/officeDocument/2006/relationships/chart" Target="/ppt/slides/charts/chart2.xml" Id="Rfbd42c2c07c1423d" /><Relationship Type="http://schemas.openxmlformats.org/officeDocument/2006/relationships/notesSlide" Target="/ppt/notesSlides/notesSlide5.xml" Id="R28a1f3bbd2984ad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bd6274f73594c7e" /><Relationship Type="http://schemas.openxmlformats.org/officeDocument/2006/relationships/image" Target="/ppt/media/image2.png" Id="R90d68d817e7047dd" /><Relationship Type="http://schemas.openxmlformats.org/officeDocument/2006/relationships/image" Target="/ppt/media/image3.png" Id="R65e0d8d5cfce414d" /><Relationship Type="http://schemas.openxmlformats.org/officeDocument/2006/relationships/notesSlide" Target="/ppt/notesSlides/notesSlide6.xml" Id="R52e928b9a7d14e5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bd94ac0096146d7" /><Relationship Type="http://schemas.openxmlformats.org/officeDocument/2006/relationships/chart" Target="/ppt/slides/charts/chart3.xml" Id="R99840eb33b9a4b0c" /><Relationship Type="http://schemas.openxmlformats.org/officeDocument/2006/relationships/chart" Target="/ppt/slides/charts/chart4.xml" Id="Ra57a062cf8174023" /><Relationship Type="http://schemas.openxmlformats.org/officeDocument/2006/relationships/notesSlide" Target="/ppt/notesSlides/notesSlide7.xml" Id="Re790f8c60fc24b7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fd29e4b6d5a43d5" /><Relationship Type="http://schemas.openxmlformats.org/officeDocument/2006/relationships/notesSlide" Target="/ppt/notesSlides/notesSlide8.xml" Id="R2f644a385fa44fa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a:latin typeface="Arial"/>
                <a:ea typeface="Arial"/>
                <a:cs typeface="Arial"/>
              </a:rPr>
              <a:t>Validation permutation importance</a:t>
            </a:r>
          </a:p>
        </c:rich>
      </c:tx>
      <c:overlay val="0"/>
      <c:txPr>
        <a:bodyPr xmlns:a="http://schemas.openxmlformats.org/drawingml/2006/main" anchorCtr="1"/>
        <a:lstStyle xmlns:a="http://schemas.openxmlformats.org/drawingml/2006/main"/>
        <a:p xmlns:a="http://schemas.openxmlformats.org/drawingml/2006/main">
          <a:pPr>
            <a:defRPr sz="1875">
              <a:latin typeface="Arial"/>
              <a:ea typeface="Arial"/>
              <a:cs typeface="Arial"/>
            </a:defRPr>
          </a:pPr>
        </a:p>
      </c:txPr>
    </c:title>
    <c:plotArea>
      <c:barChart>
        <c:barDir val="bar"/>
        <c:grouping val="clustered"/>
        <c:varyColors val="0"/>
        <c:ser>
          <c:idx val="0"/>
          <c:order val="0"/>
          <c:tx>
            <c:v>MAE increase</c:v>
          </c:tx>
          <c:spPr>
            <a:solidFill xmlns:a="http://schemas.openxmlformats.org/drawingml/2006/main">
              <a:srgbClr val="207C88"/>
            </a:solidFill>
          </c:spPr>
          <c:cat>
            <c:strRef>
              <c:f>'Chart Data'!$A$2:$A$8</c:f>
              <c:strCache>
                <c:ptCount val="7"/>
                <c:pt idx="0">
                  <c:v>Hitbox: Head</c:v>
                </c:pt>
                <c:pt idx="1">
                  <c:v>Class: Sniper</c:v>
                </c:pt>
                <c:pt idx="2">
                  <c:v>Weapon: Incendiary</c:v>
                </c:pt>
                <c:pt idx="3">
                  <c:v>Weapon: AWP</c:v>
                </c:pt>
                <c:pt idx="4">
                  <c:v>Class: SMG</c:v>
                </c:pt>
                <c:pt idx="5">
                  <c:v>Class: Grenade</c:v>
                </c:pt>
                <c:pt idx="6">
                  <c:v>Hitbox: Stomach</c:v>
                </c:pt>
              </c:strCache>
            </c:strRef>
          </c:cat>
          <c:val>
            <c:numRef>
              <c:f>'Chart Data'!$B$2:$B$8</c:f>
              <c:numCache>
                <c:formatCode>0.00</c:formatCode>
                <c:ptCount val="7"/>
                <c:pt idx="0">
                  <c:v>7.9019</c:v>
                </c:pt>
                <c:pt idx="1">
                  <c:v>1.9404</c:v>
                </c:pt>
                <c:pt idx="2">
                  <c:v>1.1689</c:v>
                </c:pt>
                <c:pt idx="3">
                  <c:v>0.8564</c:v>
                </c:pt>
                <c:pt idx="4">
                  <c:v>0.7545</c:v>
                </c:pt>
                <c:pt idx="5">
                  <c:v>0.6563</c:v>
                </c:pt>
                <c:pt idx="6">
                  <c:v>0.4951</c:v>
                </c:pt>
              </c:numCache>
            </c:numRef>
          </c:val>
        </c:s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max val="10"/>
          <c:min val="0"/>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majorUnit val="2"/>
      </c:valAx>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a:latin typeface="Arial"/>
                <a:ea typeface="Arial"/>
                <a:cs typeface="Arial"/>
              </a:rPr>
              <a:t>Mean damage by prediction decile</a:t>
            </a:r>
          </a:p>
        </c:rich>
      </c:tx>
      <c:overlay val="0"/>
      <c:txPr>
        <a:bodyPr xmlns:a="http://schemas.openxmlformats.org/drawingml/2006/main" anchorCtr="1"/>
        <a:lstStyle xmlns:a="http://schemas.openxmlformats.org/drawingml/2006/main"/>
        <a:p xmlns:a="http://schemas.openxmlformats.org/drawingml/2006/main">
          <a:pPr>
            <a:defRPr sz="1875">
              <a:latin typeface="Arial"/>
              <a:ea typeface="Arial"/>
              <a:cs typeface="Arial"/>
            </a:defRPr>
          </a:pPr>
        </a:p>
      </c:txPr>
    </c:title>
    <c:plotArea>
      <c:scatterChart>
        <c:scatterStyle val="lineMarker"/>
        <c:ser>
          <c:idx val="0"/>
          <c:order val="0"/>
          <c:tx>
            <c:v>Test deciles</c:v>
          </c:tx>
          <c:spPr>
            <a:solidFill xmlns:a="http://schemas.openxmlformats.org/drawingml/2006/main">
              <a:srgbClr val="207C88"/>
            </a:solidFill>
            <a:ln xmlns:a="http://schemas.openxmlformats.org/drawingml/2006/main" w="9525">
              <a:solidFill>
                <a:srgbClr val="207C88"/>
              </a:solidFill>
            </a:ln>
          </c:spPr>
          <c:marker>
            <c:symbol val="circle"/>
            <c:size val="9"/>
            <c:spPr>
              <a:solidFill xmlns:a="http://schemas.openxmlformats.org/drawingml/2006/main">
                <a:srgbClr val="207C88"/>
              </a:solidFill>
            </c:spPr>
          </c:marker>
          <c:xVal>
            <c:numRef>
              <c:f>'Chart Data'!$A$2:$A$11</c:f>
              <c:numCache>
                <c:formatCode>General</c:formatCode>
                <c:ptCount val="10"/>
                <c:pt idx="0">
                  <c:v>7.932</c:v>
                </c:pt>
                <c:pt idx="1">
                  <c:v>18.247</c:v>
                </c:pt>
                <c:pt idx="2">
                  <c:v>21.586</c:v>
                </c:pt>
                <c:pt idx="3">
                  <c:v>23.1833</c:v>
                </c:pt>
                <c:pt idx="4">
                  <c:v>24.38</c:v>
                </c:pt>
                <c:pt idx="5">
                  <c:v>25.8345</c:v>
                </c:pt>
                <c:pt idx="6">
                  <c:v>27.4476</c:v>
                </c:pt>
                <c:pt idx="7">
                  <c:v>31.7864</c:v>
                </c:pt>
                <c:pt idx="8">
                  <c:v>66.3609</c:v>
                </c:pt>
                <c:pt idx="9">
                  <c:v>82.1146</c:v>
                </c:pt>
              </c:numCache>
            </c:numRef>
          </c:xVal>
          <c:yVal>
            <c:numRef>
              <c:f>'Chart Data'!$B$2:$B$11</c:f>
              <c:numCache>
                <c:formatCode>General</c:formatCode>
                <c:ptCount val="10"/>
                <c:pt idx="0">
                  <c:v>7.5875</c:v>
                </c:pt>
                <c:pt idx="1">
                  <c:v>17.9913</c:v>
                </c:pt>
                <c:pt idx="2">
                  <c:v>20.9413</c:v>
                </c:pt>
                <c:pt idx="3">
                  <c:v>23.0825</c:v>
                </c:pt>
                <c:pt idx="4">
                  <c:v>24.1887</c:v>
                </c:pt>
                <c:pt idx="5">
                  <c:v>26.3375</c:v>
                </c:pt>
                <c:pt idx="6">
                  <c:v>27.7813</c:v>
                </c:pt>
                <c:pt idx="7">
                  <c:v>32.0087</c:v>
                </c:pt>
                <c:pt idx="8">
                  <c:v>67.475</c:v>
                </c:pt>
                <c:pt idx="9">
                  <c:v>83.1575</c:v>
                </c:pt>
              </c:numCache>
            </c:numRef>
          </c:yVal>
        </c:ser>
        <c:ser>
          <c:idx val="1"/>
          <c:order val="1"/>
          <c:tx>
            <c:v>Perfect agreement</c:v>
          </c:tx>
          <c:spPr>
            <a:ln xmlns:a="http://schemas.openxmlformats.org/drawingml/2006/main" w="9525">
              <a:solidFill>
                <a:srgbClr val="A4B5BD"/>
              </a:solidFill>
            </a:ln>
          </c:spPr>
          <c:marker>
            <c:symbol val="none"/>
          </c:marker>
          <c:xVal>
            <c:numRef>
              <c:f>'Chart Data'!$C$2:$C$3</c:f>
              <c:numCache>
                <c:formatCode>General</c:formatCode>
                <c:ptCount val="2"/>
                <c:pt idx="0">
                  <c:v>0</c:v>
                </c:pt>
                <c:pt idx="1">
                  <c:v>100</c:v>
                </c:pt>
              </c:numCache>
            </c:numRef>
          </c:xVal>
          <c:yVal>
            <c:numRef>
              <c:f>'Chart Data'!$D$2:$D$3</c:f>
              <c:numCache>
                <c:formatCode>General</c:formatCode>
                <c:ptCount val="2"/>
                <c:pt idx="0">
                  <c:v>0</c:v>
                </c:pt>
                <c:pt idx="1">
                  <c:v>100</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00"/>
          <c:min val="0"/>
        </c:scaling>
        <c:delete val="0"/>
        <c:axPos val="l"/>
        <c:majorGridlines>
          <c:spPr>
            <a:ln xmlns:a="http://schemas.openxmlformats.org/drawingml/2006/main" w="9525">
              <a:solidFill>
                <a:srgbClr val="E3E9EA"/>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actual damage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majorUnit val="25"/>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Mean predicted damage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majorUnit val="25"/>
      </c:valAx>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a:latin typeface="Arial"/>
                <a:ea typeface="Arial"/>
                <a:cs typeface="Arial"/>
              </a:rPr>
              <a:t>Test MAE across all methods</a:t>
            </a:r>
          </a:p>
        </c:rich>
      </c:tx>
      <c:overlay val="0"/>
      <c:txPr>
        <a:bodyPr xmlns:a="http://schemas.openxmlformats.org/drawingml/2006/main" anchorCtr="1"/>
        <a:lstStyle xmlns:a="http://schemas.openxmlformats.org/drawingml/2006/main"/>
        <a:p xmlns:a="http://schemas.openxmlformats.org/drawingml/2006/main">
          <a:pPr>
            <a:defRPr sz="1950">
              <a:latin typeface="Arial"/>
              <a:ea typeface="Arial"/>
              <a:cs typeface="Arial"/>
            </a:defRPr>
          </a:pPr>
        </a:p>
      </c:txPr>
    </c:title>
    <c:plotArea>
      <c:barChart>
        <c:barDir val="bar"/>
        <c:grouping val="clustered"/>
        <c:varyColors val="0"/>
        <c:ser>
          <c:idx val="0"/>
          <c:order val="0"/>
          <c:tx>
            <c:v>MAE</c:v>
          </c:tx>
          <c:spPr>
            <a:solidFill xmlns:a="http://schemas.openxmlformats.org/drawingml/2006/main">
              <a:srgbClr val="207C88"/>
            </a:solidFill>
          </c:spPr>
          <c:cat>
            <c:strRef>
              <c:f>'Chart Data'!$A$2:$A$14</c:f>
              <c:strCache>
                <c:ptCount val="13"/>
                <c:pt idx="0">
                  <c:v>XGBoost</c:v>
                </c:pt>
                <c:pt idx="1">
                  <c:v>Baseline</c:v>
                </c:pt>
                <c:pt idx="2">
                  <c:v>NeuralNet</c:v>
                </c:pt>
                <c:pt idx="3">
                  <c:v>GAM</c:v>
                </c:pt>
                <c:pt idx="4">
                  <c:v>OLS</c:v>
                </c:pt>
                <c:pt idx="5">
                  <c:v>Lasso</c:v>
                </c:pt>
                <c:pt idx="6">
                  <c:v>ElasticNet</c:v>
                </c:pt>
                <c:pt idx="7">
                  <c:v>GBM</c:v>
                </c:pt>
                <c:pt idx="8">
                  <c:v>Ridge</c:v>
                </c:pt>
                <c:pt idx="9">
                  <c:v>MARS</c:v>
                </c:pt>
                <c:pt idx="10">
                  <c:v>RandomForest</c:v>
                </c:pt>
                <c:pt idx="11">
                  <c:v>ExtraTrees</c:v>
                </c:pt>
                <c:pt idx="12">
                  <c:v>CART</c:v>
                </c:pt>
              </c:strCache>
            </c:strRef>
          </c:cat>
          <c:val>
            <c:numRef>
              <c:f>'Chart Data'!$B$2:$B$14</c:f>
              <c:numCache>
                <c:formatCode>0.00</c:formatCode>
                <c:ptCount val="13"/>
                <c:pt idx="0">
                  <c:v>9.1163</c:v>
                </c:pt>
                <c:pt idx="1">
                  <c:v>9.1671</c:v>
                </c:pt>
                <c:pt idx="2">
                  <c:v>9.1937</c:v>
                </c:pt>
                <c:pt idx="3">
                  <c:v>9.2117</c:v>
                </c:pt>
                <c:pt idx="4">
                  <c:v>9.217</c:v>
                </c:pt>
                <c:pt idx="5">
                  <c:v>9.2274</c:v>
                </c:pt>
                <c:pt idx="6">
                  <c:v>9.2313</c:v>
                </c:pt>
                <c:pt idx="7">
                  <c:v>9.2633</c:v>
                </c:pt>
                <c:pt idx="8">
                  <c:v>9.2881</c:v>
                </c:pt>
                <c:pt idx="9">
                  <c:v>9.4038</c:v>
                </c:pt>
                <c:pt idx="10">
                  <c:v>9.7125</c:v>
                </c:pt>
                <c:pt idx="11">
                  <c:v>9.7402</c:v>
                </c:pt>
                <c:pt idx="12">
                  <c:v>10.3945</c:v>
                </c:pt>
              </c:numCache>
            </c:numRef>
          </c:val>
        </c:ser>
        <c:dLbls>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max val="12"/>
          <c:min val="0"/>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majorUnit val="3"/>
      </c:valAx>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a:latin typeface="Arial"/>
                <a:ea typeface="Arial"/>
                <a:cs typeface="Arial"/>
              </a:rPr>
              <a:t>Sample events by weapon class</a:t>
            </a:r>
          </a:p>
        </c:rich>
      </c:tx>
      <c:overlay val="0"/>
      <c:txPr>
        <a:bodyPr xmlns:a="http://schemas.openxmlformats.org/drawingml/2006/main" anchorCtr="1"/>
        <a:lstStyle xmlns:a="http://schemas.openxmlformats.org/drawingml/2006/main"/>
        <a:p xmlns:a="http://schemas.openxmlformats.org/drawingml/2006/main">
          <a:pPr>
            <a:defRPr sz="1875">
              <a:latin typeface="Arial"/>
              <a:ea typeface="Arial"/>
              <a:cs typeface="Arial"/>
            </a:defRPr>
          </a:pPr>
        </a:p>
      </c:txPr>
    </c:title>
    <c:plotArea>
      <c:barChart>
        <c:barDir val="bar"/>
        <c:grouping val="clustered"/>
        <c:varyColors val="0"/>
        <c:ser>
          <c:idx val="0"/>
          <c:order val="0"/>
          <c:tx>
            <c:v>Events</c:v>
          </c:tx>
          <c:spPr>
            <a:solidFill xmlns:a="http://schemas.openxmlformats.org/drawingml/2006/main">
              <a:srgbClr val="697F90"/>
            </a:solidFill>
          </c:spPr>
          <c:cat>
            <c:strRef>
              <c:f>'Chart Data'!$A$2:$A$8</c:f>
              <c:strCache>
                <c:ptCount val="7"/>
                <c:pt idx="0">
                  <c:v>Rifle</c:v>
                </c:pt>
                <c:pt idx="1">
                  <c:v>Pistol</c:v>
                </c:pt>
                <c:pt idx="2">
                  <c:v>SMG</c:v>
                </c:pt>
                <c:pt idx="3">
                  <c:v>Grenade</c:v>
                </c:pt>
                <c:pt idx="4">
                  <c:v>Sniper</c:v>
                </c:pt>
                <c:pt idx="5">
                  <c:v>Heavy</c:v>
                </c:pt>
                <c:pt idx="6">
                  <c:v>Equipment</c:v>
                </c:pt>
              </c:strCache>
            </c:strRef>
          </c:cat>
          <c:val>
            <c:numRef>
              <c:f>'Chart Data'!$B$2:$B$8</c:f>
              <c:numCache>
                <c:formatCode>#,##0</c:formatCode>
                <c:ptCount val="7"/>
                <c:pt idx="0">
                  <c:v>30168</c:v>
                </c:pt>
                <c:pt idx="1">
                  <c:v>12090</c:v>
                </c:pt>
                <c:pt idx="2">
                  <c:v>6804</c:v>
                </c:pt>
                <c:pt idx="3">
                  <c:v>6679</c:v>
                </c:pt>
                <c:pt idx="4">
                  <c:v>2928</c:v>
                </c:pt>
                <c:pt idx="5">
                  <c:v>1011</c:v>
                </c:pt>
                <c:pt idx="6">
                  <c:v>83</c:v>
                </c:pt>
              </c:numCache>
            </c:numRef>
          </c:val>
        </c:s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max val="35000"/>
          <c:min val="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majorUnit val="10000"/>
      </c:valAx>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9852CC2-B7F0-480E-9BB3-52E32710359D}"/>
              </a:ext>
            </a:extLst>
          </p:cNvPr>
          <p:cNvSpPr>
            <a:spLocks xmlns:a="http://schemas.openxmlformats.org/drawingml/2006/main" noGrp="1"/>
          </p:cNvSpPr>
          <p:nvPr/>
        </p:nvSpPr>
        <p:spPr>
          <a:xfrm xmlns:a="http://schemas.openxmlformats.org/drawingml/2006/main">
            <a:off x="609600" y="933450"/>
            <a:ext cx="6191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172A3A"/>
                </a:solidFill>
                <a:latin typeface="Arial"/>
                <a:ea typeface="Arial"/>
                <a:cs typeface="Arial"/>
              </a:defRPr>
            </a:pPr>
            <a:r>
              <a:rPr sz="4500" b="1">
                <a:solidFill>
                  <a:srgbClr val="172A3A"/>
                </a:solidFill>
                <a:latin typeface="Arial"/>
                <a:ea typeface="Arial"/>
                <a:cs typeface="Arial"/>
              </a:rPr>
              <a:t>Expected damage</a:t>
            </a:r>
          </a:p>
          <a:p xmlns:a="http://schemas.openxmlformats.org/drawingml/2006/main">
            <a:pPr>
              <a:defRPr sz="4500" b="1">
                <a:solidFill>
                  <a:srgbClr val="172A3A"/>
                </a:solidFill>
                <a:latin typeface="Arial"/>
                <a:ea typeface="Arial"/>
                <a:cs typeface="Arial"/>
              </a:defRPr>
            </a:pPr>
            <a:r>
              <a:rPr sz="4500" b="1">
                <a:solidFill>
                  <a:srgbClr val="172A3A"/>
                </a:solidFill>
                <a:latin typeface="Arial"/>
                <a:ea typeface="Arial"/>
                <a:cs typeface="Arial"/>
              </a:rPr>
              <a:t>in CS:GO</a:t>
            </a:r>
          </a:p>
        </p:txBody>
      </p:sp>
      <p:sp>
        <p:nvSpPr>
          <p:cNvPr id="2" name="">
            <a:extLst xmlns:a="http://schemas.openxmlformats.org/drawingml/2006/main">
              <a:ext uri="{FF2B5EF4-FFF2-40B4-BE49-F238E27FC236}">
                <a16:creationId xmlns:a16="http://schemas.microsoft.com/office/drawing/2014/main" id="{C3CA49DE-C76C-4EA2-9C64-9D03FF162C73}"/>
              </a:ext>
            </a:extLst>
          </p:cNvPr>
          <p:cNvSpPr>
            <a:spLocks xmlns:a="http://schemas.openxmlformats.org/drawingml/2006/main" noGrp="1"/>
          </p:cNvSpPr>
          <p:nvPr/>
        </p:nvSpPr>
        <p:spPr>
          <a:xfrm xmlns:a="http://schemas.openxmlformats.org/drawingml/2006/main">
            <a:off x="647700" y="2800350"/>
            <a:ext cx="590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07C88"/>
                </a:solidFill>
                <a:latin typeface="Arial"/>
                <a:ea typeface="Arial"/>
                <a:cs typeface="Arial"/>
              </a:defRPr>
            </a:pPr>
            <a:r>
              <a:rPr sz="2250" b="0">
                <a:solidFill>
                  <a:srgbClr val="207C88"/>
                </a:solidFill>
                <a:latin typeface="Arial"/>
                <a:ea typeface="Arial"/>
                <a:cs typeface="Arial"/>
              </a:rPr>
              <a:t>DA2 project review</a:t>
            </a:r>
          </a:p>
        </p:txBody>
      </p:sp>
      <p:sp>
        <p:nvSpPr>
          <p:cNvPr id="3" name="">
            <a:extLst xmlns:a="http://schemas.openxmlformats.org/drawingml/2006/main">
              <a:ext uri="{FF2B5EF4-FFF2-40B4-BE49-F238E27FC236}">
                <a16:creationId xmlns:a16="http://schemas.microsoft.com/office/drawing/2014/main" id="{AF2A3865-E68D-4161-B90D-BCD892A03C34}"/>
              </a:ext>
            </a:extLst>
          </p:cNvPr>
          <p:cNvSpPr>
            <a:spLocks xmlns:a="http://schemas.openxmlformats.org/drawingml/2006/main" noGrp="1"/>
          </p:cNvSpPr>
          <p:nvPr/>
        </p:nvSpPr>
        <p:spPr>
          <a:xfrm xmlns:a="http://schemas.openxmlformats.org/drawingml/2006/main">
            <a:off x="647700" y="3524250"/>
            <a:ext cx="5810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A3A"/>
                </a:solidFill>
                <a:latin typeface="Arial"/>
                <a:ea typeface="Arial"/>
                <a:cs typeface="Arial"/>
              </a:defRPr>
            </a:pPr>
            <a:r>
              <a:rPr sz="2250" b="0">
                <a:solidFill>
                  <a:srgbClr val="172A3A"/>
                </a:solidFill>
                <a:latin typeface="Arial"/>
                <a:ea typeface="Arial"/>
                <a:cs typeface="Arial"/>
              </a:rPr>
              <a:t>Conditional damage prediction</a:t>
            </a:r>
          </a:p>
          <a:p xmlns:a="http://schemas.openxmlformats.org/drawingml/2006/main">
            <a:pPr>
              <a:defRPr sz="2250" b="0">
                <a:solidFill>
                  <a:srgbClr val="172A3A"/>
                </a:solidFill>
                <a:latin typeface="Arial"/>
                <a:ea typeface="Arial"/>
                <a:cs typeface="Arial"/>
              </a:defRPr>
            </a:pPr>
            <a:r>
              <a:rPr sz="2250" b="0">
                <a:solidFill>
                  <a:srgbClr val="172A3A"/>
                </a:solidFill>
                <a:latin typeface="Arial"/>
                <a:ea typeface="Arial"/>
                <a:cs typeface="Arial"/>
              </a:rPr>
              <a:t>and spatial diagnostics in R</a:t>
            </a:r>
          </a:p>
        </p:txBody>
      </p:sp>
      <p:sp>
        <p:nvSpPr>
          <p:cNvPr id="4" name="">
            <a:extLst xmlns:a="http://schemas.openxmlformats.org/drawingml/2006/main">
              <a:ext uri="{FF2B5EF4-FFF2-40B4-BE49-F238E27FC236}">
                <a16:creationId xmlns:a16="http://schemas.microsoft.com/office/drawing/2014/main" id="{9294C240-D748-4BB3-A797-5CD28AC31573}"/>
              </a:ext>
            </a:extLst>
          </p:cNvPr>
          <p:cNvSpPr>
            <a:spLocks xmlns:a="http://schemas.openxmlformats.org/drawingml/2006/main" noGrp="1"/>
          </p:cNvSpPr>
          <p:nvPr/>
        </p:nvSpPr>
        <p:spPr>
          <a:xfrm xmlns:a="http://schemas.openxmlformats.org/drawingml/2006/main">
            <a:off x="647700" y="5276850"/>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2A3A"/>
                </a:solidFill>
                <a:latin typeface="Arial"/>
                <a:ea typeface="Arial"/>
                <a:cs typeface="Arial"/>
              </a:defRPr>
            </a:pPr>
            <a:r>
              <a:rPr sz="1800" b="0">
                <a:solidFill>
                  <a:srgbClr val="172A3A"/>
                </a:solidFill>
                <a:latin typeface="Arial"/>
                <a:ea typeface="Arial"/>
                <a:cs typeface="Arial"/>
              </a:rPr>
              <a:t>Hrishikesh Damodar Nayak  24BDS1007</a:t>
            </a:r>
          </a:p>
          <a:p xmlns:a="http://schemas.openxmlformats.org/drawingml/2006/main">
            <a:pPr>
              <a:defRPr sz="1800" b="0">
                <a:solidFill>
                  <a:srgbClr val="172A3A"/>
                </a:solidFill>
                <a:latin typeface="Arial"/>
                <a:ea typeface="Arial"/>
                <a:cs typeface="Arial"/>
              </a:defRPr>
            </a:pPr>
            <a:r>
              <a:rPr sz="1800" b="0">
                <a:solidFill>
                  <a:srgbClr val="172A3A"/>
                </a:solidFill>
                <a:latin typeface="Arial"/>
                <a:ea typeface="Arial"/>
                <a:cs typeface="Arial"/>
              </a:rPr>
              <a:t>Hardik Omesh Lalla  24BDS1010</a:t>
            </a:r>
          </a:p>
        </p:txBody>
      </p:sp>
      <p:sp>
        <p:nvSpPr>
          <p:cNvPr id="5" name="">
            <a:extLst xmlns:a="http://schemas.openxmlformats.org/drawingml/2006/main">
              <a:ext uri="{FF2B5EF4-FFF2-40B4-BE49-F238E27FC236}">
                <a16:creationId xmlns:a16="http://schemas.microsoft.com/office/drawing/2014/main" id="{F925F791-E43C-43E5-923D-8CC301033482}"/>
              </a:ext>
            </a:extLst>
          </p:cNvPr>
          <p:cNvSpPr>
            <a:spLocks xmlns:a="http://schemas.openxmlformats.org/drawingml/2006/main" noGrp="1"/>
          </p:cNvSpPr>
          <p:nvPr/>
        </p:nvSpPr>
        <p:spPr>
          <a:xfrm xmlns:a="http://schemas.openxmlformats.org/drawingml/2006/main">
            <a:off x="647700" y="6153150"/>
            <a:ext cx="809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55C6B"/>
                </a:solidFill>
                <a:latin typeface="Arial"/>
                <a:ea typeface="Arial"/>
                <a:cs typeface="Arial"/>
              </a:defRPr>
            </a:pPr>
            <a:r>
              <a:rPr sz="1650" b="0">
                <a:solidFill>
                  <a:srgbClr val="455C6B"/>
                </a:solidFill>
                <a:latin typeface="Arial"/>
                <a:ea typeface="Arial"/>
                <a:cs typeface="Arial"/>
              </a:rPr>
              <a:t>Faculty guide  Dr. Vijayalakshmi A</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becd2c7cf1e4862"/>
          <a:stretch xmlns:a="http://schemas.openxmlformats.org/drawingml/2006/main"/>
        </p:blipFill>
        <p:spPr>
          <a:xfrm xmlns:a="http://schemas.openxmlformats.org/drawingml/2006/main">
            <a:off x="7477125" y="1479755"/>
            <a:ext cx="4048125" cy="3917540"/>
          </a:xfrm>
          <a:prstGeom xmlns:a="http://schemas.openxmlformats.org/drawingml/2006/main" prst="rect">
            <a:avLst/>
          </a:prstGeom>
        </p:spPr>
      </p:pic>
    </p:spTree>
    <p:extLst>
      <p:ext uri="{BB962C8B-B14F-4D97-AF65-F5344CB8AC3E}">
        <p14:creationId xmlns:p14="http://schemas.microsoft.com/office/powerpoint/2010/main" val="2628776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DF68024-A59C-4C0B-B056-7407AF210267}"/>
              </a:ext>
            </a:extLst>
          </p:cNvPr>
          <p:cNvSpPr>
            <a:spLocks xmlns:a="http://schemas.openxmlformats.org/drawingml/2006/main" noGrp="1"/>
          </p:cNvSpPr>
          <p:nvPr/>
        </p:nvSpPr>
        <p:spPr>
          <a:xfrm xmlns:a="http://schemas.openxmlformats.org/drawingml/2006/main">
            <a:off x="533400" y="361950"/>
            <a:ext cx="11125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A3A"/>
                </a:solidFill>
                <a:latin typeface="Arial"/>
                <a:ea typeface="Arial"/>
                <a:cs typeface="Arial"/>
              </a:defRPr>
            </a:pPr>
            <a:r>
              <a:rPr sz="3300" b="1">
                <a:solidFill>
                  <a:srgbClr val="172A3A"/>
                </a:solidFill>
                <a:latin typeface="Arial"/>
                <a:ea typeface="Arial"/>
                <a:cs typeface="Arial"/>
              </a:rPr>
              <a:t>Dataset and SQLite retrieval</a:t>
            </a:r>
          </a:p>
        </p:txBody>
      </p:sp>
      <p:sp>
        <p:nvSpPr>
          <p:cNvPr id="2" name="">
            <a:extLst xmlns:a="http://schemas.openxmlformats.org/drawingml/2006/main">
              <a:ext uri="{FF2B5EF4-FFF2-40B4-BE49-F238E27FC236}">
                <a16:creationId xmlns:a16="http://schemas.microsoft.com/office/drawing/2014/main" id="{DC797D50-3964-4181-B8AC-87685A419424}"/>
              </a:ext>
            </a:extLst>
          </p:cNvPr>
          <p:cNvSpPr>
            <a:spLocks xmlns:a="http://schemas.openxmlformats.org/drawingml/2006/main" noGrp="1"/>
          </p:cNvSpPr>
          <p:nvPr/>
        </p:nvSpPr>
        <p:spPr>
          <a:xfrm xmlns:a="http://schemas.openxmlformats.org/drawingml/2006/main">
            <a:off x="10953750" y="6438900"/>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55C6B"/>
                </a:solidFill>
                <a:latin typeface="Arial"/>
                <a:ea typeface="Arial"/>
                <a:cs typeface="Arial"/>
              </a:defRPr>
            </a:pPr>
            <a:r>
              <a:rPr sz="1350" b="0">
                <a:solidFill>
                  <a:srgbClr val="455C6B"/>
                </a:solidFill>
                <a:latin typeface="Arial"/>
                <a:ea typeface="Arial"/>
                <a:cs typeface="Arial"/>
              </a:rPr>
              <a:t>2 / 8</a:t>
            </a:r>
          </a:p>
        </p:txBody>
      </p:sp>
      <p:graphicFrame>
        <p:nvGraphicFramePr>
          <p:cNvPr id="13" name=""/>
          <p:cNvGraphicFramePr/>
          <p:nvPr/>
        </p:nvGraphicFramePr>
        <p:xfrm>
          <a:off xmlns:a="http://schemas.openxmlformats.org/drawingml/2006/main" x="533400" y="1438275"/>
          <a:ext xmlns:a="http://schemas.openxmlformats.org/drawingml/2006/main" cx="5619750" cy="2190750"/>
        </p:xfrm>
        <a:graphic xmlns:a="http://schemas.openxmlformats.org/drawingml/2006/main">
          <a:graphicData uri="http://schemas.openxmlformats.org/drawingml/2006/table">
            <a:tbl>
              <a:tblPr/>
              <a:tblGrid>
                <a:gridCol w="3476625"/>
                <a:gridCol w="2143125"/>
              </a:tblGrid>
              <a:tr h="547688">
                <a:tc>
                  <a:txBody>
                    <a:bodyPr/>
                    <a:lstStyle/>
                    <a:p>
                      <a:r>
                        <a:rPr sz="2025" b="1">
                          <a:solidFill>
                            <a:srgbClr val="FFFFFF"/>
                          </a:solidFill>
                          <a:latin typeface="Arial"/>
                          <a:ea typeface="Arial"/>
                          <a:cs typeface="Arial"/>
                        </a:rPr>
                        <a:t>Damage events</a:t>
                      </a:r>
                    </a:p>
                  </a:txBody>
                  <a:tcPr marL="91440" marR="91440" marT="45720" marB="45720">
                    <a:solidFill>
                      <a:srgbClr val="207C88"/>
                    </a:solidFill>
                  </a:tcPr>
                </a:tc>
                <a:tc>
                  <a:txBody>
                    <a:bodyPr/>
                    <a:lstStyle/>
                    <a:p>
                      <a:r>
                        <a:rPr sz="2025" b="1">
                          <a:solidFill>
                            <a:srgbClr val="FFFFFF"/>
                          </a:solidFill>
                          <a:latin typeface="Arial"/>
                          <a:ea typeface="Arial"/>
                          <a:cs typeface="Arial"/>
                        </a:rPr>
                        <a:t>Count</a:t>
                      </a:r>
                    </a:p>
                  </a:txBody>
                  <a:tcPr marL="91440" marR="91440" marT="45720" marB="45720">
                    <a:solidFill>
                      <a:srgbClr val="207C88"/>
                    </a:solidFill>
                  </a:tcPr>
                </a:tc>
              </a:tr>
              <a:tr h="547688">
                <a:tc>
                  <a:txBody>
                    <a:bodyPr/>
                    <a:lstStyle/>
                    <a:p>
                      <a:r>
                        <a:rPr sz="2025" b="0">
                          <a:solidFill>
                            <a:srgbClr val="172A3A"/>
                          </a:solidFill>
                          <a:latin typeface="Arial"/>
                          <a:ea typeface="Arial"/>
                          <a:cs typeface="Arial"/>
                        </a:rPr>
                        <a:t>Raw CSV rows</a:t>
                      </a:r>
                    </a:p>
                  </a:txBody>
                  <a:tcPr marL="91440" marR="91440" marT="45720" marB="45720">
                    <a:solidFill>
                      <a:srgbClr val="FFFFFF"/>
                    </a:solidFill>
                  </a:tcPr>
                </a:tc>
                <a:tc>
                  <a:txBody>
                    <a:bodyPr/>
                    <a:lstStyle/>
                    <a:p>
                      <a:r>
                        <a:rPr sz="2025" b="0">
                          <a:solidFill>
                            <a:srgbClr val="172A3A"/>
                          </a:solidFill>
                          <a:latin typeface="Arial"/>
                          <a:ea typeface="Arial"/>
                          <a:cs typeface="Arial"/>
                        </a:rPr>
                        <a:t>10,538,182</a:t>
                      </a:r>
                    </a:p>
                  </a:txBody>
                  <a:tcPr marL="91440" marR="91440" marT="45720" marB="45720">
                    <a:solidFill>
                      <a:srgbClr val="FFFFFF"/>
                    </a:solidFill>
                  </a:tcPr>
                </a:tc>
              </a:tr>
              <a:tr h="547688">
                <a:tc>
                  <a:txBody>
                    <a:bodyPr/>
                    <a:lstStyle/>
                    <a:p>
                      <a:r>
                        <a:rPr sz="2025" b="0">
                          <a:solidFill>
                            <a:srgbClr val="172A3A"/>
                          </a:solidFill>
                          <a:latin typeface="Arial"/>
                          <a:ea typeface="Arial"/>
                          <a:cs typeface="Arial"/>
                        </a:rPr>
                        <a:t>Retained rows</a:t>
                      </a:r>
                    </a:p>
                  </a:txBody>
                  <a:tcPr marL="91440" marR="91440" marT="45720" marB="45720">
                    <a:solidFill>
                      <a:srgbClr val="FFFFFF"/>
                    </a:solidFill>
                  </a:tcPr>
                </a:tc>
                <a:tc>
                  <a:txBody>
                    <a:bodyPr/>
                    <a:lstStyle/>
                    <a:p>
                      <a:r>
                        <a:rPr sz="2025" b="0">
                          <a:solidFill>
                            <a:srgbClr val="172A3A"/>
                          </a:solidFill>
                          <a:latin typeface="Arial"/>
                          <a:ea typeface="Arial"/>
                          <a:cs typeface="Arial"/>
                        </a:rPr>
                        <a:t>10,279,321</a:t>
                      </a:r>
                    </a:p>
                  </a:txBody>
                  <a:tcPr marL="91440" marR="91440" marT="45720" marB="45720">
                    <a:solidFill>
                      <a:srgbClr val="FFFFFF"/>
                    </a:solidFill>
                  </a:tcPr>
                </a:tc>
              </a:tr>
              <a:tr h="547688">
                <a:tc>
                  <a:txBody>
                    <a:bodyPr/>
                    <a:lstStyle/>
                    <a:p>
                      <a:r>
                        <a:rPr sz="2025" b="0">
                          <a:solidFill>
                            <a:srgbClr val="172A3A"/>
                          </a:solidFill>
                          <a:latin typeface="Arial"/>
                          <a:ea typeface="Arial"/>
                          <a:cs typeface="Arial"/>
                        </a:rPr>
                        <a:t>Model sample</a:t>
                      </a:r>
                    </a:p>
                  </a:txBody>
                  <a:tcPr marL="91440" marR="91440" marT="45720" marB="45720">
                    <a:solidFill>
                      <a:srgbClr val="FFFFFF"/>
                    </a:solidFill>
                  </a:tcPr>
                </a:tc>
                <a:tc>
                  <a:txBody>
                    <a:bodyPr/>
                    <a:lstStyle/>
                    <a:p>
                      <a:r>
                        <a:rPr sz="2025" b="0">
                          <a:solidFill>
                            <a:srgbClr val="172A3A"/>
                          </a:solidFill>
                          <a:latin typeface="Arial"/>
                          <a:ea typeface="Arial"/>
                          <a:cs typeface="Arial"/>
                        </a:rPr>
                        <a:t>59,763</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8A2B10D-A2BF-4FE7-9654-4AADEBB7F9F2}"/>
              </a:ext>
            </a:extLst>
          </p:cNvPr>
          <p:cNvSpPr>
            <a:spLocks xmlns:a="http://schemas.openxmlformats.org/drawingml/2006/main" noGrp="1"/>
          </p:cNvSpPr>
          <p:nvPr/>
        </p:nvSpPr>
        <p:spPr>
          <a:xfrm xmlns:a="http://schemas.openxmlformats.org/drawingml/2006/main">
            <a:off x="552450" y="3943350"/>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07C88"/>
                </a:solidFill>
                <a:latin typeface="Arial"/>
                <a:ea typeface="Arial"/>
                <a:cs typeface="Arial"/>
              </a:defRPr>
            </a:pPr>
            <a:r>
              <a:rPr sz="2025" b="1">
                <a:solidFill>
                  <a:srgbClr val="207C88"/>
                </a:solidFill>
                <a:latin typeface="Arial"/>
                <a:ea typeface="Arial"/>
                <a:cs typeface="Arial"/>
              </a:rPr>
              <a:t>DBI and RSQLite connect R to SQLite</a:t>
            </a:r>
          </a:p>
        </p:txBody>
      </p:sp>
      <p:sp>
        <p:nvSpPr>
          <p:cNvPr id="5" name="">
            <a:extLst xmlns:a="http://schemas.openxmlformats.org/drawingml/2006/main">
              <a:ext uri="{FF2B5EF4-FFF2-40B4-BE49-F238E27FC236}">
                <a16:creationId xmlns:a16="http://schemas.microsoft.com/office/drawing/2014/main" id="{F8A5F4D4-B070-4809-BAB2-AD7AA90E3FCD}"/>
              </a:ext>
            </a:extLst>
          </p:cNvPr>
          <p:cNvSpPr>
            <a:spLocks xmlns:a="http://schemas.openxmlformats.org/drawingml/2006/main" noGrp="1"/>
          </p:cNvSpPr>
          <p:nvPr/>
        </p:nvSpPr>
        <p:spPr>
          <a:xfrm xmlns:a="http://schemas.openxmlformats.org/drawingml/2006/main">
            <a:off x="552450" y="4457700"/>
            <a:ext cx="5905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A3A"/>
                </a:solidFill>
                <a:latin typeface="Arial"/>
                <a:ea typeface="Arial"/>
                <a:cs typeface="Arial"/>
              </a:defRPr>
            </a:pPr>
            <a:r>
              <a:rPr sz="1875" b="0">
                <a:solidFill>
                  <a:srgbClr val="172A3A"/>
                </a:solidFill>
                <a:latin typeface="Arial"/>
                <a:ea typeface="Arial"/>
                <a:cs typeface="Arial"/>
              </a:rPr>
              <a:t>SELECT map, wp, total_damage</a:t>
            </a:r>
          </a:p>
          <a:p xmlns:a="http://schemas.openxmlformats.org/drawingml/2006/main">
            <a:pPr>
              <a:defRPr sz="1875" b="0">
                <a:solidFill>
                  <a:srgbClr val="172A3A"/>
                </a:solidFill>
                <a:latin typeface="Arial"/>
                <a:ea typeface="Arial"/>
                <a:cs typeface="Arial"/>
              </a:defRPr>
            </a:pPr>
            <a:r>
              <a:rPr sz="1875" b="0">
                <a:solidFill>
                  <a:srgbClr val="172A3A"/>
                </a:solidFill>
                <a:latin typeface="Arial"/>
                <a:ea typeface="Arial"/>
                <a:cs typeface="Arial"/>
              </a:rPr>
              <a:t>FROM events</a:t>
            </a:r>
          </a:p>
          <a:p xmlns:a="http://schemas.openxmlformats.org/drawingml/2006/main">
            <a:pPr>
              <a:defRPr sz="1875" b="0">
                <a:solidFill>
                  <a:srgbClr val="172A3A"/>
                </a:solidFill>
                <a:latin typeface="Arial"/>
                <a:ea typeface="Arial"/>
                <a:cs typeface="Arial"/>
              </a:defRPr>
            </a:pPr>
            <a:r>
              <a:rPr sz="1875" b="0">
                <a:solidFill>
                  <a:srgbClr val="172A3A"/>
                </a:solidFill>
                <a:latin typeface="Arial"/>
                <a:ea typeface="Arial"/>
                <a:cs typeface="Arial"/>
              </a:rPr>
              <a:t>WHERE file = ? LIMIT 5</a:t>
            </a:r>
          </a:p>
        </p:txBody>
      </p:sp>
      <p:sp>
        <p:nvSpPr>
          <p:cNvPr id="6" name="">
            <a:extLst xmlns:a="http://schemas.openxmlformats.org/drawingml/2006/main">
              <a:ext uri="{FF2B5EF4-FFF2-40B4-BE49-F238E27FC236}">
                <a16:creationId xmlns:a16="http://schemas.microsoft.com/office/drawing/2014/main" id="{83B826EB-C1E2-4688-9A41-4A019CF69B12}"/>
              </a:ext>
            </a:extLst>
          </p:cNvPr>
          <p:cNvSpPr>
            <a:spLocks xmlns:a="http://schemas.openxmlformats.org/drawingml/2006/main" noGrp="1"/>
          </p:cNvSpPr>
          <p:nvPr/>
        </p:nvSpPr>
        <p:spPr>
          <a:xfrm xmlns:a="http://schemas.openxmlformats.org/drawingml/2006/main">
            <a:off x="6858000" y="1466850"/>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A3A"/>
                </a:solidFill>
                <a:latin typeface="Arial"/>
                <a:ea typeface="Arial"/>
                <a:cs typeface="Arial"/>
              </a:defRPr>
            </a:pPr>
            <a:r>
              <a:rPr sz="2250" b="1">
                <a:solidFill>
                  <a:srgbClr val="172A3A"/>
                </a:solidFill>
                <a:latin typeface="Arial"/>
                <a:ea typeface="Arial"/>
                <a:cs typeface="Arial"/>
              </a:rPr>
              <a:t>Data source</a:t>
            </a:r>
          </a:p>
        </p:txBody>
      </p:sp>
      <p:sp>
        <p:nvSpPr>
          <p:cNvPr id="7" name="">
            <a:extLst xmlns:a="http://schemas.openxmlformats.org/drawingml/2006/main">
              <a:ext uri="{FF2B5EF4-FFF2-40B4-BE49-F238E27FC236}">
                <a16:creationId xmlns:a16="http://schemas.microsoft.com/office/drawing/2014/main" id="{45E0A44A-9405-4C84-964F-3F0910E5D0EF}"/>
              </a:ext>
            </a:extLst>
          </p:cNvPr>
          <p:cNvSpPr>
            <a:spLocks xmlns:a="http://schemas.openxmlformats.org/drawingml/2006/main" noGrp="1"/>
          </p:cNvSpPr>
          <p:nvPr/>
        </p:nvSpPr>
        <p:spPr>
          <a:xfrm xmlns:a="http://schemas.openxmlformats.org/drawingml/2006/main">
            <a:off x="6858000" y="2038350"/>
            <a:ext cx="47625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Kaggle ESEA damage parts 1 and 2</a:t>
            </a:r>
          </a:p>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Metadata links each match to a map</a:t>
            </a:r>
          </a:p>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Weapon, hitbox, time and positions</a:t>
            </a:r>
          </a:p>
        </p:txBody>
      </p:sp>
      <p:sp>
        <p:nvSpPr>
          <p:cNvPr id="8" name="">
            <a:extLst xmlns:a="http://schemas.openxmlformats.org/drawingml/2006/main">
              <a:ext uri="{FF2B5EF4-FFF2-40B4-BE49-F238E27FC236}">
                <a16:creationId xmlns:a16="http://schemas.microsoft.com/office/drawing/2014/main" id="{F266E454-4194-4450-AD76-0FCBF7795773}"/>
              </a:ext>
            </a:extLst>
          </p:cNvPr>
          <p:cNvSpPr>
            <a:spLocks xmlns:a="http://schemas.openxmlformats.org/drawingml/2006/main" noGrp="1"/>
          </p:cNvSpPr>
          <p:nvPr/>
        </p:nvSpPr>
        <p:spPr>
          <a:xfrm xmlns:a="http://schemas.openxmlformats.org/drawingml/2006/main">
            <a:off x="6858000" y="3867150"/>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A3A"/>
                </a:solidFill>
                <a:latin typeface="Arial"/>
                <a:ea typeface="Arial"/>
                <a:cs typeface="Arial"/>
              </a:defRPr>
            </a:pPr>
            <a:r>
              <a:rPr sz="2250" b="1">
                <a:solidFill>
                  <a:srgbClr val="172A3A"/>
                </a:solidFill>
                <a:latin typeface="Arial"/>
                <a:ea typeface="Arial"/>
                <a:cs typeface="Arial"/>
              </a:rPr>
              <a:t>Cleaning and memory</a:t>
            </a:r>
          </a:p>
        </p:txBody>
      </p:sp>
      <p:sp>
        <p:nvSpPr>
          <p:cNvPr id="9" name="">
            <a:extLst xmlns:a="http://schemas.openxmlformats.org/drawingml/2006/main">
              <a:ext uri="{FF2B5EF4-FFF2-40B4-BE49-F238E27FC236}">
                <a16:creationId xmlns:a16="http://schemas.microsoft.com/office/drawing/2014/main" id="{F89A5E54-10CE-4C51-A4E8-07B607EBFE2F}"/>
              </a:ext>
            </a:extLst>
          </p:cNvPr>
          <p:cNvSpPr>
            <a:spLocks xmlns:a="http://schemas.openxmlformats.org/drawingml/2006/main" noGrp="1"/>
          </p:cNvSpPr>
          <p:nvPr/>
        </p:nvSpPr>
        <p:spPr>
          <a:xfrm xmlns:a="http://schemas.openxmlformats.org/drawingml/2006/main">
            <a:off x="6858000" y="4438650"/>
            <a:ext cx="46672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Keep usable hostile-player events</a:t>
            </a:r>
          </a:p>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Stream 50,000 CSV rows at a time</a:t>
            </a:r>
          </a:p>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Store full data on disk</a:t>
            </a:r>
          </a:p>
        </p:txBody>
      </p:sp>
      <p:sp>
        <p:nvSpPr>
          <p:cNvPr id="10" name="">
            <a:extLst xmlns:a="http://schemas.openxmlformats.org/drawingml/2006/main">
              <a:ext uri="{FF2B5EF4-FFF2-40B4-BE49-F238E27FC236}">
                <a16:creationId xmlns:a16="http://schemas.microsoft.com/office/drawing/2014/main" id="{FC9F5E52-2C8F-4255-9231-7AB3562D92F1}"/>
              </a:ext>
            </a:extLst>
          </p:cNvPr>
          <p:cNvSpPr>
            <a:spLocks xmlns:a="http://schemas.openxmlformats.org/drawingml/2006/main" noGrp="1"/>
          </p:cNvSpPr>
          <p:nvPr/>
        </p:nvSpPr>
        <p:spPr>
          <a:xfrm xmlns:a="http://schemas.openxmlformats.org/drawingml/2006/main">
            <a:off x="552450" y="601027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55C6B"/>
                </a:solidFill>
                <a:latin typeface="Arial"/>
                <a:ea typeface="Arial"/>
                <a:cs typeface="Arial"/>
              </a:defRPr>
            </a:pPr>
            <a:r>
              <a:rPr sz="1725" b="0">
                <a:solidFill>
                  <a:srgbClr val="455C6B"/>
                </a:solidFill>
                <a:latin typeface="Arial"/>
                <a:ea typeface="Arial"/>
                <a:cs typeface="Arial"/>
              </a:rPr>
              <a:t>The live demo retrieves stored rows through a read-only connection</a:t>
            </a:r>
          </a:p>
        </p:txBody>
      </p:sp>
    </p:spTree>
    <p:extLst>
      <p:ext uri="{BB962C8B-B14F-4D97-AF65-F5344CB8AC3E}">
        <p14:creationId xmlns:p14="http://schemas.microsoft.com/office/powerpoint/2010/main" val="176693920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C98F4AF-49A0-4B78-A145-0BE10AA929B8}"/>
              </a:ext>
            </a:extLst>
          </p:cNvPr>
          <p:cNvSpPr>
            <a:spLocks xmlns:a="http://schemas.openxmlformats.org/drawingml/2006/main" noGrp="1"/>
          </p:cNvSpPr>
          <p:nvPr/>
        </p:nvSpPr>
        <p:spPr>
          <a:xfrm xmlns:a="http://schemas.openxmlformats.org/drawingml/2006/main">
            <a:off x="533400" y="361950"/>
            <a:ext cx="11125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A3A"/>
                </a:solidFill>
                <a:latin typeface="Arial"/>
                <a:ea typeface="Arial"/>
                <a:cs typeface="Arial"/>
              </a:defRPr>
            </a:pPr>
            <a:r>
              <a:rPr sz="3300" b="1">
                <a:solidFill>
                  <a:srgbClr val="172A3A"/>
                </a:solidFill>
                <a:latin typeface="Arial"/>
                <a:ea typeface="Arial"/>
                <a:cs typeface="Arial"/>
              </a:rPr>
              <a:t>Feature engineering and selection</a:t>
            </a:r>
          </a:p>
        </p:txBody>
      </p:sp>
      <p:sp>
        <p:nvSpPr>
          <p:cNvPr id="2" name="">
            <a:extLst xmlns:a="http://schemas.openxmlformats.org/drawingml/2006/main">
              <a:ext uri="{FF2B5EF4-FFF2-40B4-BE49-F238E27FC236}">
                <a16:creationId xmlns:a16="http://schemas.microsoft.com/office/drawing/2014/main" id="{798915E3-E51A-492D-AA62-9553B1360853}"/>
              </a:ext>
            </a:extLst>
          </p:cNvPr>
          <p:cNvSpPr>
            <a:spLocks xmlns:a="http://schemas.openxmlformats.org/drawingml/2006/main" noGrp="1"/>
          </p:cNvSpPr>
          <p:nvPr/>
        </p:nvSpPr>
        <p:spPr>
          <a:xfrm xmlns:a="http://schemas.openxmlformats.org/drawingml/2006/main">
            <a:off x="10953750" y="6438900"/>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55C6B"/>
                </a:solidFill>
                <a:latin typeface="Arial"/>
                <a:ea typeface="Arial"/>
                <a:cs typeface="Arial"/>
              </a:defRPr>
            </a:pPr>
            <a:r>
              <a:rPr sz="1350" b="0">
                <a:solidFill>
                  <a:srgbClr val="455C6B"/>
                </a:solidFill>
                <a:latin typeface="Arial"/>
                <a:ea typeface="Arial"/>
                <a:cs typeface="Arial"/>
              </a:rPr>
              <a:t>3 / 8</a:t>
            </a:r>
          </a:p>
        </p:txBody>
      </p:sp>
      <p:sp>
        <p:nvSpPr>
          <p:cNvPr id="3" name="">
            <a:extLst xmlns:a="http://schemas.openxmlformats.org/drawingml/2006/main">
              <a:ext uri="{FF2B5EF4-FFF2-40B4-BE49-F238E27FC236}">
                <a16:creationId xmlns:a16="http://schemas.microsoft.com/office/drawing/2014/main" id="{FF3FF8A6-811C-4A9E-9123-06826FE24387}"/>
              </a:ext>
            </a:extLst>
          </p:cNvPr>
          <p:cNvSpPr>
            <a:spLocks xmlns:a="http://schemas.openxmlformats.org/drawingml/2006/main" noGrp="1"/>
          </p:cNvSpPr>
          <p:nvPr/>
        </p:nvSpPr>
        <p:spPr>
          <a:xfrm xmlns:a="http://schemas.openxmlformats.org/drawingml/2006/main">
            <a:off x="533400" y="1428750"/>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07C88"/>
                </a:solidFill>
                <a:latin typeface="Arial"/>
                <a:ea typeface="Arial"/>
                <a:cs typeface="Arial"/>
              </a:defRPr>
            </a:pPr>
            <a:r>
              <a:rPr sz="2325" b="1">
                <a:solidFill>
                  <a:srgbClr val="207C88"/>
                </a:solidFill>
                <a:latin typeface="Arial"/>
                <a:ea typeface="Arial"/>
                <a:cs typeface="Arial"/>
              </a:rPr>
              <a:t>Engineered predictors</a:t>
            </a:r>
          </a:p>
        </p:txBody>
      </p:sp>
      <p:sp>
        <p:nvSpPr>
          <p:cNvPr id="4" name="">
            <a:extLst xmlns:a="http://schemas.openxmlformats.org/drawingml/2006/main">
              <a:ext uri="{FF2B5EF4-FFF2-40B4-BE49-F238E27FC236}">
                <a16:creationId xmlns:a16="http://schemas.microsoft.com/office/drawing/2014/main" id="{A9AA7BF9-83A1-4AB2-BCDC-ECA09FEE06BD}"/>
              </a:ext>
            </a:extLst>
          </p:cNvPr>
          <p:cNvSpPr>
            <a:spLocks xmlns:a="http://schemas.openxmlformats.org/drawingml/2006/main" noGrp="1"/>
          </p:cNvSpPr>
          <p:nvPr/>
        </p:nvSpPr>
        <p:spPr>
          <a:xfrm xmlns:a="http://schemas.openxmlformats.org/drawingml/2006/main">
            <a:off x="533400" y="1971675"/>
            <a:ext cx="53340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Distance between attacker and victim</a:t>
            </a:r>
          </a:p>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Log distance and timing bins</a:t>
            </a:r>
          </a:p>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Bomb context and map identity</a:t>
            </a:r>
          </a:p>
        </p:txBody>
      </p:sp>
      <p:sp>
        <p:nvSpPr>
          <p:cNvPr id="5" name="">
            <a:extLst xmlns:a="http://schemas.openxmlformats.org/drawingml/2006/main">
              <a:ext uri="{FF2B5EF4-FFF2-40B4-BE49-F238E27FC236}">
                <a16:creationId xmlns:a16="http://schemas.microsoft.com/office/drawing/2014/main" id="{41C2EADD-68D8-4EBC-B9DB-7D9B0426B1E6}"/>
              </a:ext>
            </a:extLst>
          </p:cNvPr>
          <p:cNvSpPr>
            <a:spLocks xmlns:a="http://schemas.openxmlformats.org/drawingml/2006/main" noGrp="1"/>
          </p:cNvSpPr>
          <p:nvPr/>
        </p:nvSpPr>
        <p:spPr>
          <a:xfrm xmlns:a="http://schemas.openxmlformats.org/drawingml/2006/main">
            <a:off x="533400" y="3638550"/>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07C88"/>
                </a:solidFill>
                <a:latin typeface="Arial"/>
                <a:ea typeface="Arial"/>
                <a:cs typeface="Arial"/>
              </a:defRPr>
            </a:pPr>
            <a:r>
              <a:rPr sz="2325" b="1">
                <a:solidFill>
                  <a:srgbClr val="207C88"/>
                </a:solidFill>
                <a:latin typeface="Arial"/>
                <a:ea typeface="Arial"/>
                <a:cs typeface="Arial"/>
              </a:rPr>
              <a:t>Training-only preprocessing</a:t>
            </a:r>
          </a:p>
        </p:txBody>
      </p:sp>
      <p:sp>
        <p:nvSpPr>
          <p:cNvPr id="6" name="">
            <a:extLst xmlns:a="http://schemas.openxmlformats.org/drawingml/2006/main">
              <a:ext uri="{FF2B5EF4-FFF2-40B4-BE49-F238E27FC236}">
                <a16:creationId xmlns:a16="http://schemas.microsoft.com/office/drawing/2014/main" id="{E9DA8C55-BFF1-4445-BFB4-79F0D6AA95DE}"/>
              </a:ext>
            </a:extLst>
          </p:cNvPr>
          <p:cNvSpPr>
            <a:spLocks xmlns:a="http://schemas.openxmlformats.org/drawingml/2006/main" noGrp="1"/>
          </p:cNvSpPr>
          <p:nvPr/>
        </p:nvSpPr>
        <p:spPr>
          <a:xfrm xmlns:a="http://schemas.openxmlformats.org/drawingml/2006/main">
            <a:off x="533400" y="4181475"/>
            <a:ext cx="5381625"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Encode categorical levels</a:t>
            </a:r>
          </a:p>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Remove constant and redundant features</a:t>
            </a:r>
          </a:p>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Apply saved scaling to validation and test</a:t>
            </a:r>
          </a:p>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Retain 56 encoded predictors</a:t>
            </a:r>
          </a:p>
        </p:txBody>
      </p:sp>
      <p:graphicFrame>
        <p:nvGraphicFramePr>
          <p:cNvPr id="15" name="Chart"/>
          <p:cNvGraphicFramePr/>
          <p:nvPr/>
        </p:nvGraphicFramePr>
        <p:xfrm>
          <a:off xmlns:a="http://schemas.openxmlformats.org/drawingml/2006/main" x="6153150" y="1533525"/>
          <a:ext xmlns:a="http://schemas.openxmlformats.org/drawingml/2006/main" cx="5553075" cy="3686175"/>
        </p:xfrm>
        <a:graphic xmlns:a="http://schemas.openxmlformats.org/drawingml/2006/main">
          <a:graphicData uri="http://schemas.openxmlformats.org/drawingml/2006/chart">
            <c:chart xmlns:r="http://schemas.openxmlformats.org/officeDocument/2006/relationships" xmlns:c="http://schemas.openxmlformats.org/drawingml/2006/chart" r:id="R3c41997c36614a93"/>
          </a:graphicData>
        </a:graphic>
      </p:graphicFrame>
      <p:sp>
        <p:nvSpPr>
          <p:cNvPr id="8" name="">
            <a:extLst xmlns:a="http://schemas.openxmlformats.org/drawingml/2006/main">
              <a:ext uri="{FF2B5EF4-FFF2-40B4-BE49-F238E27FC236}">
                <a16:creationId xmlns:a16="http://schemas.microsoft.com/office/drawing/2014/main" id="{B08CBFB7-6A61-475E-BD25-95B029496181}"/>
              </a:ext>
            </a:extLst>
          </p:cNvPr>
          <p:cNvSpPr>
            <a:spLocks xmlns:a="http://schemas.openxmlformats.org/drawingml/2006/main" noGrp="1"/>
          </p:cNvSpPr>
          <p:nvPr/>
        </p:nvSpPr>
        <p:spPr>
          <a:xfrm xmlns:a="http://schemas.openxmlformats.org/drawingml/2006/main">
            <a:off x="6276975" y="5419725"/>
            <a:ext cx="52482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55C6B"/>
                </a:solidFill>
                <a:latin typeface="Arial"/>
                <a:ea typeface="Arial"/>
                <a:cs typeface="Arial"/>
              </a:defRPr>
            </a:pPr>
            <a:r>
              <a:rPr sz="1725" b="0">
                <a:solidFill>
                  <a:srgbClr val="455C6B"/>
                </a:solidFill>
                <a:latin typeface="Arial"/>
                <a:ea typeface="Arial"/>
                <a:cs typeface="Arial"/>
              </a:rPr>
              <a:t>Shuffling a predictor measures its</a:t>
            </a:r>
          </a:p>
          <a:p xmlns:a="http://schemas.openxmlformats.org/drawingml/2006/main">
            <a:pPr>
              <a:defRPr sz="1725" b="0">
                <a:solidFill>
                  <a:srgbClr val="455C6B"/>
                </a:solidFill>
                <a:latin typeface="Arial"/>
                <a:ea typeface="Arial"/>
                <a:cs typeface="Arial"/>
              </a:defRPr>
            </a:pPr>
            <a:r>
              <a:rPr sz="1725" b="0">
                <a:solidFill>
                  <a:srgbClr val="455C6B"/>
                </a:solidFill>
                <a:latin typeface="Arial"/>
                <a:ea typeface="Arial"/>
                <a:cs typeface="Arial"/>
              </a:rPr>
              <a:t>validation MAE increase in damage points</a:t>
            </a:r>
          </a:p>
        </p:txBody>
      </p:sp>
    </p:spTree>
    <p:extLst>
      <p:ext uri="{BB962C8B-B14F-4D97-AF65-F5344CB8AC3E}">
        <p14:creationId xmlns:p14="http://schemas.microsoft.com/office/powerpoint/2010/main" val="160501438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18948CA-646C-48D3-8500-0D887D0182F7}"/>
              </a:ext>
            </a:extLst>
          </p:cNvPr>
          <p:cNvSpPr>
            <a:spLocks xmlns:a="http://schemas.openxmlformats.org/drawingml/2006/main" noGrp="1"/>
          </p:cNvSpPr>
          <p:nvPr/>
        </p:nvSpPr>
        <p:spPr>
          <a:xfrm xmlns:a="http://schemas.openxmlformats.org/drawingml/2006/main">
            <a:off x="533400" y="361950"/>
            <a:ext cx="11125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A3A"/>
                </a:solidFill>
                <a:latin typeface="Arial"/>
                <a:ea typeface="Arial"/>
                <a:cs typeface="Arial"/>
              </a:defRPr>
            </a:pPr>
            <a:r>
              <a:rPr sz="3300" b="1">
                <a:solidFill>
                  <a:srgbClr val="172A3A"/>
                </a:solidFill>
                <a:latin typeface="Arial"/>
                <a:ea typeface="Arial"/>
                <a:cs typeface="Arial"/>
              </a:rPr>
              <a:t>Twelve regression methods and tuning</a:t>
            </a:r>
          </a:p>
        </p:txBody>
      </p:sp>
      <p:sp>
        <p:nvSpPr>
          <p:cNvPr id="2" name="">
            <a:extLst xmlns:a="http://schemas.openxmlformats.org/drawingml/2006/main">
              <a:ext uri="{FF2B5EF4-FFF2-40B4-BE49-F238E27FC236}">
                <a16:creationId xmlns:a16="http://schemas.microsoft.com/office/drawing/2014/main" id="{07A6FEF5-1CCF-4047-91A8-3C24DBD647C7}"/>
              </a:ext>
            </a:extLst>
          </p:cNvPr>
          <p:cNvSpPr>
            <a:spLocks xmlns:a="http://schemas.openxmlformats.org/drawingml/2006/main" noGrp="1"/>
          </p:cNvSpPr>
          <p:nvPr/>
        </p:nvSpPr>
        <p:spPr>
          <a:xfrm xmlns:a="http://schemas.openxmlformats.org/drawingml/2006/main">
            <a:off x="10953750" y="6438900"/>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55C6B"/>
                </a:solidFill>
                <a:latin typeface="Arial"/>
                <a:ea typeface="Arial"/>
                <a:cs typeface="Arial"/>
              </a:defRPr>
            </a:pPr>
            <a:r>
              <a:rPr sz="1350" b="0">
                <a:solidFill>
                  <a:srgbClr val="455C6B"/>
                </a:solidFill>
                <a:latin typeface="Arial"/>
                <a:ea typeface="Arial"/>
                <a:cs typeface="Arial"/>
              </a:rPr>
              <a:t>4 / 8</a:t>
            </a:r>
          </a:p>
        </p:txBody>
      </p:sp>
      <p:sp>
        <p:nvSpPr>
          <p:cNvPr id="3" name="">
            <a:extLst xmlns:a="http://schemas.openxmlformats.org/drawingml/2006/main">
              <a:ext uri="{FF2B5EF4-FFF2-40B4-BE49-F238E27FC236}">
                <a16:creationId xmlns:a16="http://schemas.microsoft.com/office/drawing/2014/main" id="{986A97AC-6BB6-404F-B345-BE14E875D938}"/>
              </a:ext>
            </a:extLst>
          </p:cNvPr>
          <p:cNvSpPr>
            <a:spLocks xmlns:a="http://schemas.openxmlformats.org/drawingml/2006/main" noGrp="1"/>
          </p:cNvSpPr>
          <p:nvPr/>
        </p:nvSpPr>
        <p:spPr>
          <a:xfrm xmlns:a="http://schemas.openxmlformats.org/drawingml/2006/main">
            <a:off x="533400" y="152400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07C88"/>
                </a:solidFill>
                <a:latin typeface="Arial"/>
                <a:ea typeface="Arial"/>
                <a:cs typeface="Arial"/>
              </a:defRPr>
            </a:pPr>
            <a:r>
              <a:rPr sz="2325" b="1">
                <a:solidFill>
                  <a:srgbClr val="207C88"/>
                </a:solidFill>
                <a:latin typeface="Arial"/>
                <a:ea typeface="Arial"/>
                <a:cs typeface="Arial"/>
              </a:rPr>
              <a:t>Linear methods</a:t>
            </a:r>
          </a:p>
        </p:txBody>
      </p:sp>
      <p:sp>
        <p:nvSpPr>
          <p:cNvPr id="4" name="">
            <a:extLst xmlns:a="http://schemas.openxmlformats.org/drawingml/2006/main">
              <a:ext uri="{FF2B5EF4-FFF2-40B4-BE49-F238E27FC236}">
                <a16:creationId xmlns:a16="http://schemas.microsoft.com/office/drawing/2014/main" id="{78B1E01B-B01F-4ACE-AA9C-6084BF4C213B}"/>
              </a:ext>
            </a:extLst>
          </p:cNvPr>
          <p:cNvSpPr>
            <a:spLocks xmlns:a="http://schemas.openxmlformats.org/drawingml/2006/main" noGrp="1"/>
          </p:cNvSpPr>
          <p:nvPr/>
        </p:nvSpPr>
        <p:spPr>
          <a:xfrm xmlns:a="http://schemas.openxmlformats.org/drawingml/2006/main">
            <a:off x="533400" y="2133600"/>
            <a:ext cx="3333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A3A"/>
                </a:solidFill>
                <a:latin typeface="Arial"/>
                <a:ea typeface="Arial"/>
                <a:cs typeface="Arial"/>
              </a:defRPr>
            </a:pPr>
            <a:r>
              <a:rPr sz="2175" b="0">
                <a:solidFill>
                  <a:srgbClr val="172A3A"/>
                </a:solidFill>
                <a:latin typeface="Arial"/>
                <a:ea typeface="Arial"/>
                <a:cs typeface="Arial"/>
              </a:rPr>
              <a:t>OLS</a:t>
            </a:r>
          </a:p>
          <a:p xmlns:a="http://schemas.openxmlformats.org/drawingml/2006/main">
            <a:pPr>
              <a:defRPr sz="2175" b="0">
                <a:solidFill>
                  <a:srgbClr val="172A3A"/>
                </a:solidFill>
                <a:latin typeface="Arial"/>
                <a:ea typeface="Arial"/>
                <a:cs typeface="Arial"/>
              </a:defRPr>
            </a:pPr>
            <a:r>
              <a:rPr sz="2175" b="0">
                <a:solidFill>
                  <a:srgbClr val="172A3A"/>
                </a:solidFill>
                <a:latin typeface="Arial"/>
                <a:ea typeface="Arial"/>
                <a:cs typeface="Arial"/>
              </a:rPr>
              <a:t>Ridge</a:t>
            </a:r>
          </a:p>
          <a:p xmlns:a="http://schemas.openxmlformats.org/drawingml/2006/main">
            <a:pPr>
              <a:defRPr sz="2175" b="0">
                <a:solidFill>
                  <a:srgbClr val="172A3A"/>
                </a:solidFill>
                <a:latin typeface="Arial"/>
                <a:ea typeface="Arial"/>
                <a:cs typeface="Arial"/>
              </a:defRPr>
            </a:pPr>
            <a:r>
              <a:rPr sz="2175" b="0">
                <a:solidFill>
                  <a:srgbClr val="172A3A"/>
                </a:solidFill>
                <a:latin typeface="Arial"/>
                <a:ea typeface="Arial"/>
                <a:cs typeface="Arial"/>
              </a:rPr>
              <a:t>Lasso</a:t>
            </a:r>
          </a:p>
          <a:p xmlns:a="http://schemas.openxmlformats.org/drawingml/2006/main">
            <a:pPr>
              <a:defRPr sz="2175" b="0">
                <a:solidFill>
                  <a:srgbClr val="172A3A"/>
                </a:solidFill>
                <a:latin typeface="Arial"/>
                <a:ea typeface="Arial"/>
                <a:cs typeface="Arial"/>
              </a:defRPr>
            </a:pPr>
            <a:r>
              <a:rPr sz="2175" b="0">
                <a:solidFill>
                  <a:srgbClr val="172A3A"/>
                </a:solidFill>
                <a:latin typeface="Arial"/>
                <a:ea typeface="Arial"/>
                <a:cs typeface="Arial"/>
              </a:rPr>
              <a:t>Elastic net</a:t>
            </a:r>
          </a:p>
        </p:txBody>
      </p:sp>
      <p:sp>
        <p:nvSpPr>
          <p:cNvPr id="5" name="">
            <a:extLst xmlns:a="http://schemas.openxmlformats.org/drawingml/2006/main">
              <a:ext uri="{FF2B5EF4-FFF2-40B4-BE49-F238E27FC236}">
                <a16:creationId xmlns:a16="http://schemas.microsoft.com/office/drawing/2014/main" id="{6686BF1E-44B4-4757-8DF0-3D09A8F4E3CD}"/>
              </a:ext>
            </a:extLst>
          </p:cNvPr>
          <p:cNvSpPr>
            <a:spLocks xmlns:a="http://schemas.openxmlformats.org/drawingml/2006/main" noGrp="1"/>
          </p:cNvSpPr>
          <p:nvPr/>
        </p:nvSpPr>
        <p:spPr>
          <a:xfrm xmlns:a="http://schemas.openxmlformats.org/drawingml/2006/main">
            <a:off x="4286250" y="152400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07C88"/>
                </a:solidFill>
                <a:latin typeface="Arial"/>
                <a:ea typeface="Arial"/>
                <a:cs typeface="Arial"/>
              </a:defRPr>
            </a:pPr>
            <a:r>
              <a:rPr sz="2325" b="1">
                <a:solidFill>
                  <a:srgbClr val="207C88"/>
                </a:solidFill>
                <a:latin typeface="Arial"/>
                <a:ea typeface="Arial"/>
                <a:cs typeface="Arial"/>
              </a:rPr>
              <a:t>Trees and ensembles</a:t>
            </a:r>
          </a:p>
        </p:txBody>
      </p:sp>
      <p:sp>
        <p:nvSpPr>
          <p:cNvPr id="6" name="">
            <a:extLst xmlns:a="http://schemas.openxmlformats.org/drawingml/2006/main">
              <a:ext uri="{FF2B5EF4-FFF2-40B4-BE49-F238E27FC236}">
                <a16:creationId xmlns:a16="http://schemas.microsoft.com/office/drawing/2014/main" id="{D950C068-5601-4727-B37C-5BBFED0E470B}"/>
              </a:ext>
            </a:extLst>
          </p:cNvPr>
          <p:cNvSpPr>
            <a:spLocks xmlns:a="http://schemas.openxmlformats.org/drawingml/2006/main" noGrp="1"/>
          </p:cNvSpPr>
          <p:nvPr/>
        </p:nvSpPr>
        <p:spPr>
          <a:xfrm xmlns:a="http://schemas.openxmlformats.org/drawingml/2006/main">
            <a:off x="4286250" y="2133600"/>
            <a:ext cx="3714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A3A"/>
                </a:solidFill>
                <a:latin typeface="Arial"/>
                <a:ea typeface="Arial"/>
                <a:cs typeface="Arial"/>
              </a:defRPr>
            </a:pPr>
            <a:r>
              <a:rPr sz="2175" b="0">
                <a:solidFill>
                  <a:srgbClr val="172A3A"/>
                </a:solidFill>
                <a:latin typeface="Arial"/>
                <a:ea typeface="Arial"/>
                <a:cs typeface="Arial"/>
              </a:rPr>
              <a:t>CART</a:t>
            </a:r>
          </a:p>
          <a:p xmlns:a="http://schemas.openxmlformats.org/drawingml/2006/main">
            <a:pPr>
              <a:defRPr sz="2175" b="0">
                <a:solidFill>
                  <a:srgbClr val="172A3A"/>
                </a:solidFill>
                <a:latin typeface="Arial"/>
                <a:ea typeface="Arial"/>
                <a:cs typeface="Arial"/>
              </a:defRPr>
            </a:pPr>
            <a:r>
              <a:rPr sz="2175" b="0">
                <a:solidFill>
                  <a:srgbClr val="172A3A"/>
                </a:solidFill>
                <a:latin typeface="Arial"/>
                <a:ea typeface="Arial"/>
                <a:cs typeface="Arial"/>
              </a:rPr>
              <a:t>Random forest</a:t>
            </a:r>
          </a:p>
          <a:p xmlns:a="http://schemas.openxmlformats.org/drawingml/2006/main">
            <a:pPr>
              <a:defRPr sz="2175" b="0">
                <a:solidFill>
                  <a:srgbClr val="172A3A"/>
                </a:solidFill>
                <a:latin typeface="Arial"/>
                <a:ea typeface="Arial"/>
                <a:cs typeface="Arial"/>
              </a:defRPr>
            </a:pPr>
            <a:r>
              <a:rPr sz="2175" b="0">
                <a:solidFill>
                  <a:srgbClr val="172A3A"/>
                </a:solidFill>
                <a:latin typeface="Arial"/>
                <a:ea typeface="Arial"/>
                <a:cs typeface="Arial"/>
              </a:rPr>
              <a:t>Extra trees</a:t>
            </a:r>
          </a:p>
          <a:p xmlns:a="http://schemas.openxmlformats.org/drawingml/2006/main">
            <a:pPr>
              <a:defRPr sz="2175" b="0">
                <a:solidFill>
                  <a:srgbClr val="172A3A"/>
                </a:solidFill>
                <a:latin typeface="Arial"/>
                <a:ea typeface="Arial"/>
                <a:cs typeface="Arial"/>
              </a:defRPr>
            </a:pPr>
            <a:r>
              <a:rPr sz="2175" b="0">
                <a:solidFill>
                  <a:srgbClr val="172A3A"/>
                </a:solidFill>
                <a:latin typeface="Arial"/>
                <a:ea typeface="Arial"/>
                <a:cs typeface="Arial"/>
              </a:rPr>
              <a:t>GBM</a:t>
            </a:r>
          </a:p>
          <a:p xmlns:a="http://schemas.openxmlformats.org/drawingml/2006/main">
            <a:pPr>
              <a:defRPr sz="2175" b="0">
                <a:solidFill>
                  <a:srgbClr val="172A3A"/>
                </a:solidFill>
                <a:latin typeface="Arial"/>
                <a:ea typeface="Arial"/>
                <a:cs typeface="Arial"/>
              </a:defRPr>
            </a:pPr>
            <a:r>
              <a:rPr sz="2175" b="0">
                <a:solidFill>
                  <a:srgbClr val="172A3A"/>
                </a:solidFill>
                <a:latin typeface="Arial"/>
                <a:ea typeface="Arial"/>
                <a:cs typeface="Arial"/>
              </a:rPr>
              <a:t>XGBoost</a:t>
            </a:r>
          </a:p>
        </p:txBody>
      </p:sp>
      <p:sp>
        <p:nvSpPr>
          <p:cNvPr id="7" name="">
            <a:extLst xmlns:a="http://schemas.openxmlformats.org/drawingml/2006/main">
              <a:ext uri="{FF2B5EF4-FFF2-40B4-BE49-F238E27FC236}">
                <a16:creationId xmlns:a16="http://schemas.microsoft.com/office/drawing/2014/main" id="{F342129E-2756-478A-A76E-04B3A12E5CEB}"/>
              </a:ext>
            </a:extLst>
          </p:cNvPr>
          <p:cNvSpPr>
            <a:spLocks xmlns:a="http://schemas.openxmlformats.org/drawingml/2006/main" noGrp="1"/>
          </p:cNvSpPr>
          <p:nvPr/>
        </p:nvSpPr>
        <p:spPr>
          <a:xfrm xmlns:a="http://schemas.openxmlformats.org/drawingml/2006/main">
            <a:off x="8915400" y="152400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07C88"/>
                </a:solidFill>
                <a:latin typeface="Arial"/>
                <a:ea typeface="Arial"/>
                <a:cs typeface="Arial"/>
              </a:defRPr>
            </a:pPr>
            <a:r>
              <a:rPr sz="2325" b="1">
                <a:solidFill>
                  <a:srgbClr val="207C88"/>
                </a:solidFill>
                <a:latin typeface="Arial"/>
                <a:ea typeface="Arial"/>
                <a:cs typeface="Arial"/>
              </a:rPr>
              <a:t>Other methods</a:t>
            </a:r>
          </a:p>
        </p:txBody>
      </p:sp>
      <p:sp>
        <p:nvSpPr>
          <p:cNvPr id="8" name="">
            <a:extLst xmlns:a="http://schemas.openxmlformats.org/drawingml/2006/main">
              <a:ext uri="{FF2B5EF4-FFF2-40B4-BE49-F238E27FC236}">
                <a16:creationId xmlns:a16="http://schemas.microsoft.com/office/drawing/2014/main" id="{7FFB39D3-9B1F-4E21-8664-9218FC884704}"/>
              </a:ext>
            </a:extLst>
          </p:cNvPr>
          <p:cNvSpPr>
            <a:spLocks xmlns:a="http://schemas.openxmlformats.org/drawingml/2006/main" noGrp="1"/>
          </p:cNvSpPr>
          <p:nvPr/>
        </p:nvSpPr>
        <p:spPr>
          <a:xfrm xmlns:a="http://schemas.openxmlformats.org/drawingml/2006/main">
            <a:off x="8915400" y="2133600"/>
            <a:ext cx="2809875"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A3A"/>
                </a:solidFill>
                <a:latin typeface="Arial"/>
                <a:ea typeface="Arial"/>
                <a:cs typeface="Arial"/>
              </a:defRPr>
            </a:pPr>
            <a:r>
              <a:rPr sz="2175" b="0">
                <a:solidFill>
                  <a:srgbClr val="172A3A"/>
                </a:solidFill>
                <a:latin typeface="Arial"/>
                <a:ea typeface="Arial"/>
                <a:cs typeface="Arial"/>
              </a:rPr>
              <a:t>MARS</a:t>
            </a:r>
          </a:p>
          <a:p xmlns:a="http://schemas.openxmlformats.org/drawingml/2006/main">
            <a:pPr>
              <a:defRPr sz="2175" b="0">
                <a:solidFill>
                  <a:srgbClr val="172A3A"/>
                </a:solidFill>
                <a:latin typeface="Arial"/>
                <a:ea typeface="Arial"/>
                <a:cs typeface="Arial"/>
              </a:defRPr>
            </a:pPr>
            <a:r>
              <a:rPr sz="2175" b="0">
                <a:solidFill>
                  <a:srgbClr val="172A3A"/>
                </a:solidFill>
                <a:latin typeface="Arial"/>
                <a:ea typeface="Arial"/>
                <a:cs typeface="Arial"/>
              </a:rPr>
              <a:t>GAM</a:t>
            </a:r>
          </a:p>
          <a:p xmlns:a="http://schemas.openxmlformats.org/drawingml/2006/main">
            <a:pPr>
              <a:defRPr sz="2175" b="0">
                <a:solidFill>
                  <a:srgbClr val="172A3A"/>
                </a:solidFill>
                <a:latin typeface="Arial"/>
                <a:ea typeface="Arial"/>
                <a:cs typeface="Arial"/>
              </a:defRPr>
            </a:pPr>
            <a:r>
              <a:rPr sz="2175" b="0">
                <a:solidFill>
                  <a:srgbClr val="172A3A"/>
                </a:solidFill>
                <a:latin typeface="Arial"/>
                <a:ea typeface="Arial"/>
                <a:cs typeface="Arial"/>
              </a:rPr>
              <a:t>Neural network</a:t>
            </a:r>
          </a:p>
        </p:txBody>
      </p:sp>
      <p:sp>
        <p:nvSpPr>
          <p:cNvPr id="9" name="">
            <a:extLst xmlns:a="http://schemas.openxmlformats.org/drawingml/2006/main">
              <a:ext uri="{FF2B5EF4-FFF2-40B4-BE49-F238E27FC236}">
                <a16:creationId xmlns:a16="http://schemas.microsoft.com/office/drawing/2014/main" id="{1F4E2C36-0C54-4C88-B058-D8EB77685B69}"/>
              </a:ext>
            </a:extLst>
          </p:cNvPr>
          <p:cNvSpPr>
            <a:spLocks xmlns:a="http://schemas.openxmlformats.org/drawingml/2006/main" noGrp="1"/>
          </p:cNvSpPr>
          <p:nvPr/>
        </p:nvSpPr>
        <p:spPr>
          <a:xfrm xmlns:a="http://schemas.openxmlformats.org/drawingml/2006/main">
            <a:off x="533400" y="4733925"/>
            <a:ext cx="1112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2A3A"/>
                </a:solidFill>
                <a:latin typeface="Arial"/>
                <a:ea typeface="Arial"/>
                <a:cs typeface="Arial"/>
              </a:defRPr>
            </a:pPr>
            <a:r>
              <a:rPr sz="2175" b="1">
                <a:solidFill>
                  <a:srgbClr val="172A3A"/>
                </a:solidFill>
                <a:latin typeface="Arial"/>
                <a:ea typeface="Arial"/>
                <a:cs typeface="Arial"/>
              </a:rPr>
              <a:t>Validation MAE chooses hyperparameters and the final method</a:t>
            </a:r>
          </a:p>
        </p:txBody>
      </p:sp>
      <p:sp>
        <p:nvSpPr>
          <p:cNvPr id="10" name="">
            <a:extLst xmlns:a="http://schemas.openxmlformats.org/drawingml/2006/main">
              <a:ext uri="{FF2B5EF4-FFF2-40B4-BE49-F238E27FC236}">
                <a16:creationId xmlns:a16="http://schemas.microsoft.com/office/drawing/2014/main" id="{3817E545-92A5-4979-9040-A9D8F98B3024}"/>
              </a:ext>
            </a:extLst>
          </p:cNvPr>
          <p:cNvSpPr>
            <a:spLocks xmlns:a="http://schemas.openxmlformats.org/drawingml/2006/main" noGrp="1"/>
          </p:cNvSpPr>
          <p:nvPr/>
        </p:nvSpPr>
        <p:spPr>
          <a:xfrm xmlns:a="http://schemas.openxmlformats.org/drawingml/2006/main">
            <a:off x="533400" y="5314950"/>
            <a:ext cx="11144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A3A"/>
                </a:solidFill>
                <a:latin typeface="Arial"/>
                <a:ea typeface="Arial"/>
                <a:cs typeface="Arial"/>
              </a:defRPr>
            </a:pPr>
            <a:r>
              <a:rPr sz="1950" b="0">
                <a:solidFill>
                  <a:srgbClr val="172A3A"/>
                </a:solidFill>
                <a:latin typeface="Arial"/>
                <a:ea typeface="Arial"/>
                <a:cs typeface="Arial"/>
              </a:rPr>
              <a:t>Examples: XGBoost depth 3 or 5, early stopping after 20 rounds</a:t>
            </a:r>
          </a:p>
          <a:p xmlns:a="http://schemas.openxmlformats.org/drawingml/2006/main">
            <a:pPr>
              <a:defRPr sz="1950" b="0">
                <a:solidFill>
                  <a:srgbClr val="172A3A"/>
                </a:solidFill>
                <a:latin typeface="Arial"/>
                <a:ea typeface="Arial"/>
                <a:cs typeface="Arial"/>
              </a:defRPr>
            </a:pPr>
            <a:r>
              <a:rPr sz="1950" b="0">
                <a:solidFill>
                  <a:srgbClr val="172A3A"/>
                </a:solidFill>
                <a:latin typeface="Arial"/>
                <a:ea typeface="Arial"/>
                <a:cs typeface="Arial"/>
              </a:rPr>
              <a:t>CART complexity 0.005 or 0.02, neural network size 5 or 10</a:t>
            </a:r>
          </a:p>
        </p:txBody>
      </p:sp>
    </p:spTree>
    <p:extLst>
      <p:ext uri="{BB962C8B-B14F-4D97-AF65-F5344CB8AC3E}">
        <p14:creationId xmlns:p14="http://schemas.microsoft.com/office/powerpoint/2010/main" val="212617588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BEB7D99-2541-4024-8612-F34FB9A8C126}"/>
              </a:ext>
            </a:extLst>
          </p:cNvPr>
          <p:cNvSpPr>
            <a:spLocks xmlns:a="http://schemas.openxmlformats.org/drawingml/2006/main" noGrp="1"/>
          </p:cNvSpPr>
          <p:nvPr/>
        </p:nvSpPr>
        <p:spPr>
          <a:xfrm xmlns:a="http://schemas.openxmlformats.org/drawingml/2006/main">
            <a:off x="533400" y="361950"/>
            <a:ext cx="11125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A3A"/>
                </a:solidFill>
                <a:latin typeface="Arial"/>
                <a:ea typeface="Arial"/>
                <a:cs typeface="Arial"/>
              </a:defRPr>
            </a:pPr>
            <a:r>
              <a:rPr sz="3300" b="1">
                <a:solidFill>
                  <a:srgbClr val="172A3A"/>
                </a:solidFill>
                <a:latin typeface="Arial"/>
                <a:ea typeface="Arial"/>
                <a:cs typeface="Arial"/>
              </a:rPr>
              <a:t>Validation on separate matches</a:t>
            </a:r>
          </a:p>
        </p:txBody>
      </p:sp>
      <p:sp>
        <p:nvSpPr>
          <p:cNvPr id="2" name="">
            <a:extLst xmlns:a="http://schemas.openxmlformats.org/drawingml/2006/main">
              <a:ext uri="{FF2B5EF4-FFF2-40B4-BE49-F238E27FC236}">
                <a16:creationId xmlns:a16="http://schemas.microsoft.com/office/drawing/2014/main" id="{644162E9-6C65-47D4-B408-155624FFE3E9}"/>
              </a:ext>
            </a:extLst>
          </p:cNvPr>
          <p:cNvSpPr>
            <a:spLocks xmlns:a="http://schemas.openxmlformats.org/drawingml/2006/main" noGrp="1"/>
          </p:cNvSpPr>
          <p:nvPr/>
        </p:nvSpPr>
        <p:spPr>
          <a:xfrm xmlns:a="http://schemas.openxmlformats.org/drawingml/2006/main">
            <a:off x="10953750" y="6438900"/>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55C6B"/>
                </a:solidFill>
                <a:latin typeface="Arial"/>
                <a:ea typeface="Arial"/>
                <a:cs typeface="Arial"/>
              </a:defRPr>
            </a:pPr>
            <a:r>
              <a:rPr sz="1350" b="0">
                <a:solidFill>
                  <a:srgbClr val="455C6B"/>
                </a:solidFill>
                <a:latin typeface="Arial"/>
                <a:ea typeface="Arial"/>
                <a:cs typeface="Arial"/>
              </a:rPr>
              <a:t>5 / 8</a:t>
            </a:r>
          </a:p>
        </p:txBody>
      </p:sp>
      <p:sp>
        <p:nvSpPr>
          <p:cNvPr id="3" name="">
            <a:extLst xmlns:a="http://schemas.openxmlformats.org/drawingml/2006/main">
              <a:ext uri="{FF2B5EF4-FFF2-40B4-BE49-F238E27FC236}">
                <a16:creationId xmlns:a16="http://schemas.microsoft.com/office/drawing/2014/main" id="{48041940-3EBF-4319-A8C9-90D677EF2A44}"/>
              </a:ext>
            </a:extLst>
          </p:cNvPr>
          <p:cNvSpPr>
            <a:spLocks xmlns:a="http://schemas.openxmlformats.org/drawingml/2006/main" noGrp="1"/>
          </p:cNvSpPr>
          <p:nvPr/>
        </p:nvSpPr>
        <p:spPr>
          <a:xfrm xmlns:a="http://schemas.openxmlformats.org/drawingml/2006/main">
            <a:off x="533400" y="1285875"/>
            <a:ext cx="11239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7C88"/>
                </a:solidFill>
                <a:latin typeface="Arial"/>
                <a:ea typeface="Arial"/>
                <a:cs typeface="Arial"/>
              </a:defRPr>
            </a:pPr>
            <a:r>
              <a:rPr sz="2100" b="1">
                <a:solidFill>
                  <a:srgbClr val="207C88"/>
                </a:solidFill>
                <a:latin typeface="Arial"/>
                <a:ea typeface="Arial"/>
                <a:cs typeface="Arial"/>
              </a:rPr>
              <a:t>20,000 fitting rows   8,000 validation rows   8,000 test rows</a:t>
            </a:r>
          </a:p>
        </p:txBody>
      </p:sp>
      <p:sp>
        <p:nvSpPr>
          <p:cNvPr id="4" name="">
            <a:extLst xmlns:a="http://schemas.openxmlformats.org/drawingml/2006/main">
              <a:ext uri="{FF2B5EF4-FFF2-40B4-BE49-F238E27FC236}">
                <a16:creationId xmlns:a16="http://schemas.microsoft.com/office/drawing/2014/main" id="{BC036EBA-14B4-40C3-BE27-5C826DD3A1E2}"/>
              </a:ext>
            </a:extLst>
          </p:cNvPr>
          <p:cNvSpPr>
            <a:spLocks xmlns:a="http://schemas.openxmlformats.org/drawingml/2006/main" noGrp="1"/>
          </p:cNvSpPr>
          <p:nvPr/>
        </p:nvSpPr>
        <p:spPr>
          <a:xfrm xmlns:a="http://schemas.openxmlformats.org/drawingml/2006/main">
            <a:off x="533400" y="18097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A3A"/>
                </a:solidFill>
                <a:latin typeface="Arial"/>
                <a:ea typeface="Arial"/>
                <a:cs typeface="Arial"/>
              </a:defRPr>
            </a:pPr>
            <a:r>
              <a:rPr sz="1950" b="0">
                <a:solidFill>
                  <a:srgbClr val="172A3A"/>
                </a:solidFill>
                <a:latin typeface="Arial"/>
                <a:ea typeface="Arial"/>
                <a:cs typeface="Arial"/>
              </a:rPr>
              <a:t>32 test matches stay outside fitting and tuning</a:t>
            </a:r>
          </a:p>
        </p:txBody>
      </p:sp>
      <p:graphicFrame>
        <p:nvGraphicFramePr>
          <p:cNvPr id="13" name=""/>
          <p:cNvGraphicFramePr/>
          <p:nvPr/>
        </p:nvGraphicFramePr>
        <p:xfrm>
          <a:off xmlns:a="http://schemas.openxmlformats.org/drawingml/2006/main" x="533400" y="2457450"/>
          <a:ext xmlns:a="http://schemas.openxmlformats.org/drawingml/2006/main" cx="5362575" cy="2352675"/>
        </p:xfrm>
        <a:graphic xmlns:a="http://schemas.openxmlformats.org/drawingml/2006/main">
          <a:graphicData uri="http://schemas.openxmlformats.org/drawingml/2006/table">
            <a:tbl>
              <a:tblPr/>
              <a:tblGrid>
                <a:gridCol w="2238375"/>
                <a:gridCol w="1562100"/>
                <a:gridCol w="1562100"/>
              </a:tblGrid>
              <a:tr h="588169">
                <a:tc>
                  <a:txBody>
                    <a:bodyPr/>
                    <a:lstStyle/>
                    <a:p>
                      <a:r>
                        <a:rPr sz="1950" b="1">
                          <a:solidFill>
                            <a:srgbClr val="FFFFFF"/>
                          </a:solidFill>
                          <a:latin typeface="Arial"/>
                          <a:ea typeface="Arial"/>
                          <a:cs typeface="Arial"/>
                        </a:rPr>
                        <a:t>Test metric</a:t>
                      </a:r>
                    </a:p>
                  </a:txBody>
                  <a:tcPr marL="91440" marR="91440" marT="45720" marB="45720">
                    <a:solidFill>
                      <a:srgbClr val="207C88"/>
                    </a:solidFill>
                  </a:tcPr>
                </a:tc>
                <a:tc>
                  <a:txBody>
                    <a:bodyPr/>
                    <a:lstStyle/>
                    <a:p>
                      <a:r>
                        <a:rPr sz="1950" b="1">
                          <a:solidFill>
                            <a:srgbClr val="FFFFFF"/>
                          </a:solidFill>
                          <a:latin typeface="Arial"/>
                          <a:ea typeface="Arial"/>
                          <a:cs typeface="Arial"/>
                        </a:rPr>
                        <a:t>XGBoost</a:t>
                      </a:r>
                    </a:p>
                  </a:txBody>
                  <a:tcPr marL="91440" marR="91440" marT="45720" marB="45720">
                    <a:solidFill>
                      <a:srgbClr val="207C88"/>
                    </a:solidFill>
                  </a:tcPr>
                </a:tc>
                <a:tc>
                  <a:txBody>
                    <a:bodyPr/>
                    <a:lstStyle/>
                    <a:p>
                      <a:r>
                        <a:rPr sz="1950" b="1">
                          <a:solidFill>
                            <a:srgbClr val="FFFFFF"/>
                          </a:solidFill>
                          <a:latin typeface="Arial"/>
                          <a:ea typeface="Arial"/>
                          <a:cs typeface="Arial"/>
                        </a:rPr>
                        <a:t>Baseline</a:t>
                      </a:r>
                    </a:p>
                  </a:txBody>
                  <a:tcPr marL="91440" marR="91440" marT="45720" marB="45720">
                    <a:solidFill>
                      <a:srgbClr val="207C88"/>
                    </a:solidFill>
                  </a:tcPr>
                </a:tc>
              </a:tr>
              <a:tr h="588169">
                <a:tc>
                  <a:txBody>
                    <a:bodyPr/>
                    <a:lstStyle/>
                    <a:p>
                      <a:r>
                        <a:rPr sz="1950" b="0">
                          <a:solidFill>
                            <a:srgbClr val="172A3A"/>
                          </a:solidFill>
                          <a:latin typeface="Arial"/>
                          <a:ea typeface="Arial"/>
                          <a:cs typeface="Arial"/>
                        </a:rPr>
                        <a:t>MAE</a:t>
                      </a:r>
                    </a:p>
                  </a:txBody>
                  <a:tcPr marL="91440" marR="91440" marT="45720" marB="45720">
                    <a:solidFill>
                      <a:srgbClr val="FFFFFF"/>
                    </a:solidFill>
                  </a:tcPr>
                </a:tc>
                <a:tc>
                  <a:txBody>
                    <a:bodyPr/>
                    <a:lstStyle/>
                    <a:p>
                      <a:r>
                        <a:rPr sz="1950" b="0">
                          <a:solidFill>
                            <a:srgbClr val="172A3A"/>
                          </a:solidFill>
                          <a:latin typeface="Arial"/>
                          <a:ea typeface="Arial"/>
                          <a:cs typeface="Arial"/>
                        </a:rPr>
                        <a:t>9.116</a:t>
                      </a:r>
                    </a:p>
                  </a:txBody>
                  <a:tcPr marL="91440" marR="91440" marT="45720" marB="45720">
                    <a:solidFill>
                      <a:srgbClr val="FFFFFF"/>
                    </a:solidFill>
                  </a:tcPr>
                </a:tc>
                <a:tc>
                  <a:txBody>
                    <a:bodyPr/>
                    <a:lstStyle/>
                    <a:p>
                      <a:r>
                        <a:rPr sz="1950" b="0">
                          <a:solidFill>
                            <a:srgbClr val="172A3A"/>
                          </a:solidFill>
                          <a:latin typeface="Arial"/>
                          <a:ea typeface="Arial"/>
                          <a:cs typeface="Arial"/>
                        </a:rPr>
                        <a:t>9.167</a:t>
                      </a:r>
                    </a:p>
                  </a:txBody>
                  <a:tcPr marL="91440" marR="91440" marT="45720" marB="45720">
                    <a:solidFill>
                      <a:srgbClr val="FFFFFF"/>
                    </a:solidFill>
                  </a:tcPr>
                </a:tc>
              </a:tr>
              <a:tr h="588169">
                <a:tc>
                  <a:txBody>
                    <a:bodyPr/>
                    <a:lstStyle/>
                    <a:p>
                      <a:r>
                        <a:rPr sz="1950" b="0">
                          <a:solidFill>
                            <a:srgbClr val="172A3A"/>
                          </a:solidFill>
                          <a:latin typeface="Arial"/>
                          <a:ea typeface="Arial"/>
                          <a:cs typeface="Arial"/>
                        </a:rPr>
                        <a:t>RMSE</a:t>
                      </a:r>
                    </a:p>
                  </a:txBody>
                  <a:tcPr marL="91440" marR="91440" marT="45720" marB="45720">
                    <a:solidFill>
                      <a:srgbClr val="FFFFFF"/>
                    </a:solidFill>
                  </a:tcPr>
                </a:tc>
                <a:tc>
                  <a:txBody>
                    <a:bodyPr/>
                    <a:lstStyle/>
                    <a:p>
                      <a:r>
                        <a:rPr sz="1950" b="0">
                          <a:solidFill>
                            <a:srgbClr val="172A3A"/>
                          </a:solidFill>
                          <a:latin typeface="Arial"/>
                          <a:ea typeface="Arial"/>
                          <a:cs typeface="Arial"/>
                        </a:rPr>
                        <a:t>14.692</a:t>
                      </a:r>
                    </a:p>
                  </a:txBody>
                  <a:tcPr marL="91440" marR="91440" marT="45720" marB="45720">
                    <a:solidFill>
                      <a:srgbClr val="FFFFFF"/>
                    </a:solidFill>
                  </a:tcPr>
                </a:tc>
                <a:tc>
                  <a:txBody>
                    <a:bodyPr/>
                    <a:lstStyle/>
                    <a:p>
                      <a:r>
                        <a:rPr sz="1950" b="0">
                          <a:solidFill>
                            <a:srgbClr val="172A3A"/>
                          </a:solidFill>
                          <a:latin typeface="Arial"/>
                          <a:ea typeface="Arial"/>
                          <a:cs typeface="Arial"/>
                        </a:rPr>
                        <a:t>14.674</a:t>
                      </a:r>
                    </a:p>
                  </a:txBody>
                  <a:tcPr marL="91440" marR="91440" marT="45720" marB="45720">
                    <a:solidFill>
                      <a:srgbClr val="FFFFFF"/>
                    </a:solidFill>
                  </a:tcPr>
                </a:tc>
              </a:tr>
              <a:tr h="588169">
                <a:tc>
                  <a:txBody>
                    <a:bodyPr/>
                    <a:lstStyle/>
                    <a:p>
                      <a:r>
                        <a:rPr sz="1950" b="0">
                          <a:solidFill>
                            <a:srgbClr val="172A3A"/>
                          </a:solidFill>
                          <a:latin typeface="Arial"/>
                          <a:ea typeface="Arial"/>
                          <a:cs typeface="Arial"/>
                        </a:rPr>
                        <a:t>R squared</a:t>
                      </a:r>
                    </a:p>
                  </a:txBody>
                  <a:tcPr marL="91440" marR="91440" marT="45720" marB="45720">
                    <a:solidFill>
                      <a:srgbClr val="FFFFFF"/>
                    </a:solidFill>
                  </a:tcPr>
                </a:tc>
                <a:tc>
                  <a:txBody>
                    <a:bodyPr/>
                    <a:lstStyle/>
                    <a:p>
                      <a:r>
                        <a:rPr sz="1950" b="0">
                          <a:solidFill>
                            <a:srgbClr val="172A3A"/>
                          </a:solidFill>
                          <a:latin typeface="Arial"/>
                          <a:ea typeface="Arial"/>
                          <a:cs typeface="Arial"/>
                        </a:rPr>
                        <a:t>0.701</a:t>
                      </a:r>
                    </a:p>
                  </a:txBody>
                  <a:tcPr marL="91440" marR="91440" marT="45720" marB="45720">
                    <a:solidFill>
                      <a:srgbClr val="FFFFFF"/>
                    </a:solidFill>
                  </a:tcPr>
                </a:tc>
                <a:tc>
                  <a:txBody>
                    <a:bodyPr/>
                    <a:lstStyle/>
                    <a:p>
                      <a:r>
                        <a:rPr sz="1950" b="0">
                          <a:solidFill>
                            <a:srgbClr val="172A3A"/>
                          </a:solidFill>
                          <a:latin typeface="Arial"/>
                          <a:ea typeface="Arial"/>
                          <a:cs typeface="Arial"/>
                        </a:rPr>
                        <a:t>0.702</a:t>
                      </a:r>
                    </a:p>
                  </a:txBody>
                  <a:tcPr marL="91440" marR="91440" marT="45720" marB="45720">
                    <a:solidFill>
                      <a:srgbClr val="FFFFFF"/>
                    </a:solidFill>
                  </a:tcPr>
                </a:tc>
              </a:tr>
            </a:tbl>
          </a:graphicData>
        </a:graphic>
      </p:graphicFrame>
      <p:graphicFrame>
        <p:nvGraphicFramePr>
          <p:cNvPr id="14" name="Chart"/>
          <p:cNvGraphicFramePr/>
          <p:nvPr/>
        </p:nvGraphicFramePr>
        <p:xfrm>
          <a:off xmlns:a="http://schemas.openxmlformats.org/drawingml/2006/main" x="6343650" y="2352675"/>
          <a:ext xmlns:a="http://schemas.openxmlformats.org/drawingml/2006/main" cx="5295900" cy="3352800"/>
        </p:xfrm>
        <a:graphic xmlns:a="http://schemas.openxmlformats.org/drawingml/2006/main">
          <a:graphicData uri="http://schemas.openxmlformats.org/drawingml/2006/chart">
            <c:chart xmlns:r="http://schemas.openxmlformats.org/officeDocument/2006/relationships" xmlns:c="http://schemas.openxmlformats.org/drawingml/2006/chart" r:id="Rfbd42c2c07c1423d"/>
          </a:graphicData>
        </a:graphic>
      </p:graphicFrame>
      <p:sp>
        <p:nvSpPr>
          <p:cNvPr id="7" name="">
            <a:extLst xmlns:a="http://schemas.openxmlformats.org/drawingml/2006/main">
              <a:ext uri="{FF2B5EF4-FFF2-40B4-BE49-F238E27FC236}">
                <a16:creationId xmlns:a16="http://schemas.microsoft.com/office/drawing/2014/main" id="{B444B4EC-94D1-46EC-81A5-BA470AC4ECD0}"/>
              </a:ext>
            </a:extLst>
          </p:cNvPr>
          <p:cNvSpPr>
            <a:spLocks xmlns:a="http://schemas.openxmlformats.org/drawingml/2006/main" noGrp="1"/>
          </p:cNvSpPr>
          <p:nvPr/>
        </p:nvSpPr>
        <p:spPr>
          <a:xfrm xmlns:a="http://schemas.openxmlformats.org/drawingml/2006/main">
            <a:off x="533400" y="5133975"/>
            <a:ext cx="5619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A3A"/>
                </a:solidFill>
                <a:latin typeface="Arial"/>
                <a:ea typeface="Arial"/>
                <a:cs typeface="Arial"/>
              </a:defRPr>
            </a:pPr>
            <a:r>
              <a:rPr sz="1875" b="0">
                <a:solidFill>
                  <a:srgbClr val="172A3A"/>
                </a:solidFill>
                <a:latin typeface="Arial"/>
                <a:ea typeface="Arial"/>
                <a:cs typeface="Arial"/>
              </a:rPr>
              <a:t>XGBoost test MAE 95% interval: 8.764 to 9.465</a:t>
            </a:r>
          </a:p>
          <a:p xmlns:a="http://schemas.openxmlformats.org/drawingml/2006/main">
            <a:pPr>
              <a:defRPr sz="1875" b="0">
                <a:solidFill>
                  <a:srgbClr val="172A3A"/>
                </a:solidFill>
                <a:latin typeface="Arial"/>
                <a:ea typeface="Arial"/>
                <a:cs typeface="Arial"/>
              </a:defRPr>
            </a:pPr>
            <a:r>
              <a:rPr sz="1875" b="0">
                <a:solidFill>
                  <a:srgbClr val="172A3A"/>
                </a:solidFill>
                <a:latin typeface="Arial"/>
                <a:ea typeface="Arial"/>
                <a:cs typeface="Arial"/>
              </a:rPr>
              <a:t>500 bootstrap resamples preserve match clusters</a:t>
            </a:r>
          </a:p>
        </p:txBody>
      </p:sp>
      <p:sp>
        <p:nvSpPr>
          <p:cNvPr id="8" name="">
            <a:extLst xmlns:a="http://schemas.openxmlformats.org/drawingml/2006/main">
              <a:ext uri="{FF2B5EF4-FFF2-40B4-BE49-F238E27FC236}">
                <a16:creationId xmlns:a16="http://schemas.microsoft.com/office/drawing/2014/main" id="{016094AA-96EA-42A4-9AC8-AE82123E06A7}"/>
              </a:ext>
            </a:extLst>
          </p:cNvPr>
          <p:cNvSpPr>
            <a:spLocks xmlns:a="http://schemas.openxmlformats.org/drawingml/2006/main" noGrp="1"/>
          </p:cNvSpPr>
          <p:nvPr/>
        </p:nvSpPr>
        <p:spPr>
          <a:xfrm xmlns:a="http://schemas.openxmlformats.org/drawingml/2006/main">
            <a:off x="533400" y="609600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55C6B"/>
                </a:solidFill>
                <a:latin typeface="Arial"/>
                <a:ea typeface="Arial"/>
                <a:cs typeface="Arial"/>
              </a:defRPr>
            </a:pPr>
            <a:r>
              <a:rPr sz="1725" b="0">
                <a:solidFill>
                  <a:srgbClr val="455C6B"/>
                </a:solidFill>
                <a:latin typeface="Arial"/>
                <a:ea typeface="Arial"/>
                <a:cs typeface="Arial"/>
              </a:rPr>
              <a:t>MAE measures typical absolute error in damage points</a:t>
            </a:r>
          </a:p>
        </p:txBody>
      </p:sp>
    </p:spTree>
    <p:extLst>
      <p:ext uri="{BB962C8B-B14F-4D97-AF65-F5344CB8AC3E}">
        <p14:creationId xmlns:p14="http://schemas.microsoft.com/office/powerpoint/2010/main" val="129722466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14D9BA5-0C2A-4782-8B54-EA980967FFDA}"/>
              </a:ext>
            </a:extLst>
          </p:cNvPr>
          <p:cNvSpPr>
            <a:spLocks xmlns:a="http://schemas.openxmlformats.org/drawingml/2006/main" noGrp="1"/>
          </p:cNvSpPr>
          <p:nvPr/>
        </p:nvSpPr>
        <p:spPr>
          <a:xfrm xmlns:a="http://schemas.openxmlformats.org/drawingml/2006/main">
            <a:off x="533400" y="361950"/>
            <a:ext cx="11125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A3A"/>
                </a:solidFill>
                <a:latin typeface="Arial"/>
                <a:ea typeface="Arial"/>
                <a:cs typeface="Arial"/>
              </a:defRPr>
            </a:pPr>
            <a:r>
              <a:rPr sz="3300" b="1">
                <a:solidFill>
                  <a:srgbClr val="172A3A"/>
                </a:solidFill>
                <a:latin typeface="Arial"/>
                <a:ea typeface="Arial"/>
                <a:cs typeface="Arial"/>
              </a:rPr>
              <a:t>Expected damage and residual heatmaps</a:t>
            </a:r>
          </a:p>
        </p:txBody>
      </p:sp>
      <p:sp>
        <p:nvSpPr>
          <p:cNvPr id="2" name="">
            <a:extLst xmlns:a="http://schemas.openxmlformats.org/drawingml/2006/main">
              <a:ext uri="{FF2B5EF4-FFF2-40B4-BE49-F238E27FC236}">
                <a16:creationId xmlns:a16="http://schemas.microsoft.com/office/drawing/2014/main" id="{AD79B707-799A-46AE-9841-8E1D1A2BBAC4}"/>
              </a:ext>
            </a:extLst>
          </p:cNvPr>
          <p:cNvSpPr>
            <a:spLocks xmlns:a="http://schemas.openxmlformats.org/drawingml/2006/main" noGrp="1"/>
          </p:cNvSpPr>
          <p:nvPr/>
        </p:nvSpPr>
        <p:spPr>
          <a:xfrm xmlns:a="http://schemas.openxmlformats.org/drawingml/2006/main">
            <a:off x="10953750" y="6438900"/>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55C6B"/>
                </a:solidFill>
                <a:latin typeface="Arial"/>
                <a:ea typeface="Arial"/>
                <a:cs typeface="Arial"/>
              </a:defRPr>
            </a:pPr>
            <a:r>
              <a:rPr sz="1350" b="0">
                <a:solidFill>
                  <a:srgbClr val="455C6B"/>
                </a:solidFill>
                <a:latin typeface="Arial"/>
                <a:ea typeface="Arial"/>
                <a:cs typeface="Arial"/>
              </a:rPr>
              <a:t>6 / 8</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0d68d817e7047dd"/>
          <a:stretch xmlns:a="http://schemas.openxmlformats.org/drawingml/2006/main"/>
        </p:blipFill>
        <p:spPr>
          <a:xfrm xmlns:a="http://schemas.openxmlformats.org/drawingml/2006/main">
            <a:off x="940276" y="1323975"/>
            <a:ext cx="4596448" cy="4448175"/>
          </a:xfrm>
          <a:prstGeom xmlns:a="http://schemas.openxmlformats.org/drawingml/2006/main" prst="rect">
            <a:avLst/>
          </a:prstGeom>
        </p:spPr>
      </p:pic>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5e0d8d5cfce414d"/>
          <a:stretch xmlns:a="http://schemas.openxmlformats.org/drawingml/2006/main"/>
        </p:blipFill>
        <p:spPr>
          <a:xfrm xmlns:a="http://schemas.openxmlformats.org/drawingml/2006/main">
            <a:off x="6769576" y="1323975"/>
            <a:ext cx="4596448" cy="44481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DDD65AD-3868-4DC4-AF8B-7E318B3644DA}"/>
              </a:ext>
            </a:extLst>
          </p:cNvPr>
          <p:cNvSpPr>
            <a:spLocks xmlns:a="http://schemas.openxmlformats.org/drawingml/2006/main" noGrp="1"/>
          </p:cNvSpPr>
          <p:nvPr/>
        </p:nvSpPr>
        <p:spPr>
          <a:xfrm xmlns:a="http://schemas.openxmlformats.org/drawingml/2006/main">
            <a:off x="533400" y="5857875"/>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A3A"/>
                </a:solidFill>
                <a:latin typeface="Arial"/>
                <a:ea typeface="Arial"/>
                <a:cs typeface="Arial"/>
              </a:defRPr>
            </a:pPr>
            <a:r>
              <a:rPr sz="1875" b="0">
                <a:solidFill>
                  <a:srgbClr val="172A3A"/>
                </a:solidFill>
                <a:latin typeface="Arial"/>
                <a:ea typeface="Arial"/>
                <a:cs typeface="Arial"/>
              </a:rPr>
              <a:t>40 by 40 grid at attacker positions</a:t>
            </a:r>
          </a:p>
          <a:p xmlns:a="http://schemas.openxmlformats.org/drawingml/2006/main">
            <a:pPr>
              <a:defRPr sz="1875" b="0">
                <a:solidFill>
                  <a:srgbClr val="172A3A"/>
                </a:solidFill>
                <a:latin typeface="Arial"/>
                <a:ea typeface="Arial"/>
                <a:cs typeface="Arial"/>
              </a:defRPr>
            </a:pPr>
            <a:r>
              <a:rPr sz="1875" b="0">
                <a:solidFill>
                  <a:srgbClr val="172A3A"/>
                </a:solidFill>
                <a:latin typeface="Arial"/>
                <a:ea typeface="Arial"/>
                <a:cs typeface="Arial"/>
              </a:rPr>
              <a:t>Mean cells need at least 5 events from 2 matches</a:t>
            </a:r>
          </a:p>
        </p:txBody>
      </p:sp>
    </p:spTree>
    <p:extLst>
      <p:ext uri="{BB962C8B-B14F-4D97-AF65-F5344CB8AC3E}">
        <p14:creationId xmlns:p14="http://schemas.microsoft.com/office/powerpoint/2010/main" val="25606540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BB92167-A155-4C33-AA1F-E5F7BD905D28}"/>
              </a:ext>
            </a:extLst>
          </p:cNvPr>
          <p:cNvSpPr>
            <a:spLocks xmlns:a="http://schemas.openxmlformats.org/drawingml/2006/main" noGrp="1"/>
          </p:cNvSpPr>
          <p:nvPr/>
        </p:nvSpPr>
        <p:spPr>
          <a:xfrm xmlns:a="http://schemas.openxmlformats.org/drawingml/2006/main">
            <a:off x="533400" y="361950"/>
            <a:ext cx="11125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A3A"/>
                </a:solidFill>
                <a:latin typeface="Arial"/>
                <a:ea typeface="Arial"/>
                <a:cs typeface="Arial"/>
              </a:defRPr>
            </a:pPr>
            <a:r>
              <a:rPr sz="3300" b="1">
                <a:solidFill>
                  <a:srgbClr val="172A3A"/>
                </a:solidFill>
                <a:latin typeface="Arial"/>
                <a:ea typeface="Arial"/>
                <a:cs typeface="Arial"/>
              </a:rPr>
              <a:t>Model comparison and exploratory data</a:t>
            </a:r>
          </a:p>
        </p:txBody>
      </p:sp>
      <p:sp>
        <p:nvSpPr>
          <p:cNvPr id="2" name="">
            <a:extLst xmlns:a="http://schemas.openxmlformats.org/drawingml/2006/main">
              <a:ext uri="{FF2B5EF4-FFF2-40B4-BE49-F238E27FC236}">
                <a16:creationId xmlns:a16="http://schemas.microsoft.com/office/drawing/2014/main" id="{105214D0-C5DA-4677-81E2-14112CB85D8E}"/>
              </a:ext>
            </a:extLst>
          </p:cNvPr>
          <p:cNvSpPr>
            <a:spLocks xmlns:a="http://schemas.openxmlformats.org/drawingml/2006/main" noGrp="1"/>
          </p:cNvSpPr>
          <p:nvPr/>
        </p:nvSpPr>
        <p:spPr>
          <a:xfrm xmlns:a="http://schemas.openxmlformats.org/drawingml/2006/main">
            <a:off x="10953750" y="6438900"/>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55C6B"/>
                </a:solidFill>
                <a:latin typeface="Arial"/>
                <a:ea typeface="Arial"/>
                <a:cs typeface="Arial"/>
              </a:defRPr>
            </a:pPr>
            <a:r>
              <a:rPr sz="1350" b="0">
                <a:solidFill>
                  <a:srgbClr val="455C6B"/>
                </a:solidFill>
                <a:latin typeface="Arial"/>
                <a:ea typeface="Arial"/>
                <a:cs typeface="Arial"/>
              </a:rPr>
              <a:t>7 / 8</a:t>
            </a:r>
          </a:p>
        </p:txBody>
      </p:sp>
      <p:graphicFrame>
        <p:nvGraphicFramePr>
          <p:cNvPr id="10" name="Chart"/>
          <p:cNvGraphicFramePr/>
          <p:nvPr/>
        </p:nvGraphicFramePr>
        <p:xfrm>
          <a:off xmlns:a="http://schemas.openxmlformats.org/drawingml/2006/main" x="381000" y="1276350"/>
          <a:ext xmlns:a="http://schemas.openxmlformats.org/drawingml/2006/main" cx="6172200" cy="4619625"/>
        </p:xfrm>
        <a:graphic xmlns:a="http://schemas.openxmlformats.org/drawingml/2006/main">
          <a:graphicData uri="http://schemas.openxmlformats.org/drawingml/2006/chart">
            <c:chart xmlns:r="http://schemas.openxmlformats.org/officeDocument/2006/relationships" xmlns:c="http://schemas.openxmlformats.org/drawingml/2006/chart" r:id="R99840eb33b9a4b0c"/>
          </a:graphicData>
        </a:graphic>
      </p:graphicFrame>
      <p:graphicFrame>
        <p:nvGraphicFramePr>
          <p:cNvPr id="11" name="Chart"/>
          <p:cNvGraphicFramePr/>
          <p:nvPr/>
        </p:nvGraphicFramePr>
        <p:xfrm>
          <a:off xmlns:a="http://schemas.openxmlformats.org/drawingml/2006/main" x="6762750" y="1362075"/>
          <a:ext xmlns:a="http://schemas.openxmlformats.org/drawingml/2006/main" cx="4933950" cy="2876550"/>
        </p:xfrm>
        <a:graphic xmlns:a="http://schemas.openxmlformats.org/drawingml/2006/main">
          <a:graphicData uri="http://schemas.openxmlformats.org/drawingml/2006/chart">
            <c:chart xmlns:r="http://schemas.openxmlformats.org/officeDocument/2006/relationships" xmlns:c="http://schemas.openxmlformats.org/drawingml/2006/chart" r:id="Ra57a062cf8174023"/>
          </a:graphicData>
        </a:graphic>
      </p:graphicFrame>
      <p:sp>
        <p:nvSpPr>
          <p:cNvPr id="5" name="">
            <a:extLst xmlns:a="http://schemas.openxmlformats.org/drawingml/2006/main">
              <a:ext uri="{FF2B5EF4-FFF2-40B4-BE49-F238E27FC236}">
                <a16:creationId xmlns:a16="http://schemas.microsoft.com/office/drawing/2014/main" id="{6DE40D8D-D396-4DA9-9E11-23DF083833E4}"/>
              </a:ext>
            </a:extLst>
          </p:cNvPr>
          <p:cNvSpPr>
            <a:spLocks xmlns:a="http://schemas.openxmlformats.org/drawingml/2006/main" noGrp="1"/>
          </p:cNvSpPr>
          <p:nvPr/>
        </p:nvSpPr>
        <p:spPr>
          <a:xfrm xmlns:a="http://schemas.openxmlformats.org/drawingml/2006/main">
            <a:off x="6886575" y="4476750"/>
            <a:ext cx="46863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A3A"/>
                </a:solidFill>
                <a:latin typeface="Arial"/>
                <a:ea typeface="Arial"/>
                <a:cs typeface="Arial"/>
              </a:defRPr>
            </a:pPr>
            <a:r>
              <a:rPr sz="1875" b="0">
                <a:solidFill>
                  <a:srgbClr val="172A3A"/>
                </a:solidFill>
                <a:latin typeface="Arial"/>
                <a:ea typeface="Arial"/>
                <a:cs typeface="Arial"/>
              </a:rPr>
              <a:t>Baseline improvement: 0.051 points</a:t>
            </a:r>
          </a:p>
          <a:p xmlns:a="http://schemas.openxmlformats.org/drawingml/2006/main">
            <a:pPr>
              <a:defRPr sz="1875" b="0">
                <a:solidFill>
                  <a:srgbClr val="172A3A"/>
                </a:solidFill>
                <a:latin typeface="Arial"/>
                <a:ea typeface="Arial"/>
                <a:cs typeface="Arial"/>
              </a:defRPr>
            </a:pPr>
            <a:r>
              <a:rPr sz="1875" b="0">
                <a:solidFill>
                  <a:srgbClr val="172A3A"/>
                </a:solidFill>
                <a:latin typeface="Arial"/>
                <a:ea typeface="Arial"/>
                <a:cs typeface="Arial"/>
              </a:rPr>
              <a:t>95% interval: -0.018 to 0.123</a:t>
            </a:r>
          </a:p>
          <a:p xmlns:a="http://schemas.openxmlformats.org/drawingml/2006/main">
            <a:pPr>
              <a:defRPr sz="1875" b="0">
                <a:solidFill>
                  <a:srgbClr val="172A3A"/>
                </a:solidFill>
                <a:latin typeface="Arial"/>
                <a:ea typeface="Arial"/>
                <a:cs typeface="Arial"/>
              </a:defRPr>
            </a:pPr>
            <a:r>
              <a:rPr sz="1875" b="0">
                <a:solidFill>
                  <a:srgbClr val="172A3A"/>
                </a:solidFill>
                <a:latin typeface="Arial"/>
                <a:ea typeface="Arial"/>
                <a:cs typeface="Arial"/>
              </a:rPr>
              <a:t>Holm-adjusted p-value: 0.6866</a:t>
            </a:r>
          </a:p>
        </p:txBody>
      </p:sp>
      <p:sp>
        <p:nvSpPr>
          <p:cNvPr id="6" name="">
            <a:extLst xmlns:a="http://schemas.openxmlformats.org/drawingml/2006/main">
              <a:ext uri="{FF2B5EF4-FFF2-40B4-BE49-F238E27FC236}">
                <a16:creationId xmlns:a16="http://schemas.microsoft.com/office/drawing/2014/main" id="{C8FCF25F-AFC4-481A-814B-22A0992D6BCF}"/>
              </a:ext>
            </a:extLst>
          </p:cNvPr>
          <p:cNvSpPr>
            <a:spLocks xmlns:a="http://schemas.openxmlformats.org/drawingml/2006/main" noGrp="1"/>
          </p:cNvSpPr>
          <p:nvPr/>
        </p:nvSpPr>
        <p:spPr>
          <a:xfrm xmlns:a="http://schemas.openxmlformats.org/drawingml/2006/main">
            <a:off x="6886575" y="5686425"/>
            <a:ext cx="4648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2A3A"/>
                </a:solidFill>
                <a:latin typeface="Arial"/>
                <a:ea typeface="Arial"/>
                <a:cs typeface="Arial"/>
              </a:defRPr>
            </a:pPr>
            <a:r>
              <a:rPr sz="1950" b="1">
                <a:solidFill>
                  <a:srgbClr val="172A3A"/>
                </a:solidFill>
                <a:latin typeface="Arial"/>
                <a:ea typeface="Arial"/>
                <a:cs typeface="Arial"/>
              </a:rPr>
              <a:t>This run does not establish</a:t>
            </a:r>
          </a:p>
          <a:p xmlns:a="http://schemas.openxmlformats.org/drawingml/2006/main">
            <a:pPr>
              <a:defRPr sz="1950" b="1">
                <a:solidFill>
                  <a:srgbClr val="172A3A"/>
                </a:solidFill>
                <a:latin typeface="Arial"/>
                <a:ea typeface="Arial"/>
                <a:cs typeface="Arial"/>
              </a:defRPr>
            </a:pPr>
            <a:r>
              <a:rPr sz="1950" b="1">
                <a:solidFill>
                  <a:srgbClr val="172A3A"/>
                </a:solidFill>
                <a:latin typeface="Arial"/>
                <a:ea typeface="Arial"/>
                <a:cs typeface="Arial"/>
              </a:rPr>
              <a:t>superiority over the baseline</a:t>
            </a:r>
          </a:p>
        </p:txBody>
      </p:sp>
      <p:sp>
        <p:nvSpPr>
          <p:cNvPr id="7" name="">
            <a:extLst xmlns:a="http://schemas.openxmlformats.org/drawingml/2006/main">
              <a:ext uri="{FF2B5EF4-FFF2-40B4-BE49-F238E27FC236}">
                <a16:creationId xmlns:a16="http://schemas.microsoft.com/office/drawing/2014/main" id="{AC4BB4E0-6409-4CF9-BF8D-B8FD99F07EAB}"/>
              </a:ext>
            </a:extLst>
          </p:cNvPr>
          <p:cNvSpPr>
            <a:spLocks xmlns:a="http://schemas.openxmlformats.org/drawingml/2006/main" noGrp="1"/>
          </p:cNvSpPr>
          <p:nvPr/>
        </p:nvSpPr>
        <p:spPr>
          <a:xfrm xmlns:a="http://schemas.openxmlformats.org/drawingml/2006/main">
            <a:off x="533400" y="6172200"/>
            <a:ext cx="6019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55C6B"/>
                </a:solidFill>
                <a:latin typeface="Arial"/>
                <a:ea typeface="Arial"/>
                <a:cs typeface="Arial"/>
              </a:defRPr>
            </a:pPr>
            <a:r>
              <a:rPr sz="1650" b="0">
                <a:solidFill>
                  <a:srgbClr val="455C6B"/>
                </a:solidFill>
                <a:latin typeface="Arial"/>
                <a:ea typeface="Arial"/>
                <a:cs typeface="Arial"/>
              </a:rPr>
              <a:t>12 EDA plots and 3 interactive Plotly charts</a:t>
            </a:r>
          </a:p>
        </p:txBody>
      </p:sp>
    </p:spTree>
    <p:extLst>
      <p:ext uri="{BB962C8B-B14F-4D97-AF65-F5344CB8AC3E}">
        <p14:creationId xmlns:p14="http://schemas.microsoft.com/office/powerpoint/2010/main" val="662337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C432477-BD66-4F50-870A-BA666E28CA9C}"/>
              </a:ext>
            </a:extLst>
          </p:cNvPr>
          <p:cNvSpPr>
            <a:spLocks xmlns:a="http://schemas.openxmlformats.org/drawingml/2006/main" noGrp="1"/>
          </p:cNvSpPr>
          <p:nvPr/>
        </p:nvSpPr>
        <p:spPr>
          <a:xfrm xmlns:a="http://schemas.openxmlformats.org/drawingml/2006/main">
            <a:off x="533400" y="361950"/>
            <a:ext cx="11125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A3A"/>
                </a:solidFill>
                <a:latin typeface="Arial"/>
                <a:ea typeface="Arial"/>
                <a:cs typeface="Arial"/>
              </a:defRPr>
            </a:pPr>
            <a:r>
              <a:rPr sz="3300" b="1">
                <a:solidFill>
                  <a:srgbClr val="172A3A"/>
                </a:solidFill>
                <a:latin typeface="Arial"/>
                <a:ea typeface="Arial"/>
                <a:cs typeface="Arial"/>
              </a:rPr>
              <a:t>Progress and Windows RStudio demonstration</a:t>
            </a:r>
          </a:p>
        </p:txBody>
      </p:sp>
      <p:sp>
        <p:nvSpPr>
          <p:cNvPr id="2" name="">
            <a:extLst xmlns:a="http://schemas.openxmlformats.org/drawingml/2006/main">
              <a:ext uri="{FF2B5EF4-FFF2-40B4-BE49-F238E27FC236}">
                <a16:creationId xmlns:a16="http://schemas.microsoft.com/office/drawing/2014/main" id="{D614A3A7-8816-437C-8556-5DF3ADB310F3}"/>
              </a:ext>
            </a:extLst>
          </p:cNvPr>
          <p:cNvSpPr>
            <a:spLocks xmlns:a="http://schemas.openxmlformats.org/drawingml/2006/main" noGrp="1"/>
          </p:cNvSpPr>
          <p:nvPr/>
        </p:nvSpPr>
        <p:spPr>
          <a:xfrm xmlns:a="http://schemas.openxmlformats.org/drawingml/2006/main">
            <a:off x="10953750" y="6438900"/>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55C6B"/>
                </a:solidFill>
                <a:latin typeface="Arial"/>
                <a:ea typeface="Arial"/>
                <a:cs typeface="Arial"/>
              </a:defRPr>
            </a:pPr>
            <a:r>
              <a:rPr sz="1350" b="0">
                <a:solidFill>
                  <a:srgbClr val="455C6B"/>
                </a:solidFill>
                <a:latin typeface="Arial"/>
                <a:ea typeface="Arial"/>
                <a:cs typeface="Arial"/>
              </a:rPr>
              <a:t>8 / 8</a:t>
            </a:r>
          </a:p>
        </p:txBody>
      </p:sp>
      <p:sp>
        <p:nvSpPr>
          <p:cNvPr id="3" name="">
            <a:extLst xmlns:a="http://schemas.openxmlformats.org/drawingml/2006/main">
              <a:ext uri="{FF2B5EF4-FFF2-40B4-BE49-F238E27FC236}">
                <a16:creationId xmlns:a16="http://schemas.microsoft.com/office/drawing/2014/main" id="{49A70B1B-FB8D-4DE6-B57B-179F0C14916E}"/>
              </a:ext>
            </a:extLst>
          </p:cNvPr>
          <p:cNvSpPr>
            <a:spLocks xmlns:a="http://schemas.openxmlformats.org/drawingml/2006/main" noGrp="1"/>
          </p:cNvSpPr>
          <p:nvPr/>
        </p:nvSpPr>
        <p:spPr>
          <a:xfrm xmlns:a="http://schemas.openxmlformats.org/drawingml/2006/main">
            <a:off x="533400" y="140017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07C88"/>
                </a:solidFill>
                <a:latin typeface="Arial"/>
                <a:ea typeface="Arial"/>
                <a:cs typeface="Arial"/>
              </a:defRPr>
            </a:pPr>
            <a:r>
              <a:rPr sz="2325" b="1">
                <a:solidFill>
                  <a:srgbClr val="207C88"/>
                </a:solidFill>
                <a:latin typeface="Arial"/>
                <a:ea typeface="Arial"/>
                <a:cs typeface="Arial"/>
              </a:rPr>
              <a:t>Live demonstration</a:t>
            </a:r>
          </a:p>
        </p:txBody>
      </p:sp>
      <p:sp>
        <p:nvSpPr>
          <p:cNvPr id="4" name="">
            <a:extLst xmlns:a="http://schemas.openxmlformats.org/drawingml/2006/main">
              <a:ext uri="{FF2B5EF4-FFF2-40B4-BE49-F238E27FC236}">
                <a16:creationId xmlns:a16="http://schemas.microsoft.com/office/drawing/2014/main" id="{305503BF-AA56-4BE4-8449-00CA60C49A68}"/>
              </a:ext>
            </a:extLst>
          </p:cNvPr>
          <p:cNvSpPr>
            <a:spLocks xmlns:a="http://schemas.openxmlformats.org/drawingml/2006/main" noGrp="1"/>
          </p:cNvSpPr>
          <p:nvPr/>
        </p:nvSpPr>
        <p:spPr>
          <a:xfrm xmlns:a="http://schemas.openxmlformats.org/drawingml/2006/main">
            <a:off x="533400" y="1971675"/>
            <a:ext cx="6238875"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Open csgo_xD.Rproj</a:t>
            </a:r>
          </a:p>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source("presentation/live_demo.R")</a:t>
            </a:r>
          </a:p>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demo_database()</a:t>
            </a:r>
          </a:p>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demo_predict(10)</a:t>
            </a:r>
          </a:p>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demo_plot("expected")</a:t>
            </a:r>
          </a:p>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demo_gallery()</a:t>
            </a:r>
          </a:p>
        </p:txBody>
      </p:sp>
      <p:sp>
        <p:nvSpPr>
          <p:cNvPr id="5" name="">
            <a:extLst xmlns:a="http://schemas.openxmlformats.org/drawingml/2006/main">
              <a:ext uri="{FF2B5EF4-FFF2-40B4-BE49-F238E27FC236}">
                <a16:creationId xmlns:a16="http://schemas.microsoft.com/office/drawing/2014/main" id="{515D9D4A-003A-4A05-857F-DD5A9DEB4D48}"/>
              </a:ext>
            </a:extLst>
          </p:cNvPr>
          <p:cNvSpPr>
            <a:spLocks xmlns:a="http://schemas.openxmlformats.org/drawingml/2006/main" noGrp="1"/>
          </p:cNvSpPr>
          <p:nvPr/>
        </p:nvSpPr>
        <p:spPr>
          <a:xfrm xmlns:a="http://schemas.openxmlformats.org/drawingml/2006/main">
            <a:off x="7143750" y="1400175"/>
            <a:ext cx="452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07C88"/>
                </a:solidFill>
                <a:latin typeface="Arial"/>
                <a:ea typeface="Arial"/>
                <a:cs typeface="Arial"/>
              </a:defRPr>
            </a:pPr>
            <a:r>
              <a:rPr sz="2325" b="1">
                <a:solidFill>
                  <a:srgbClr val="207C88"/>
                </a:solidFill>
                <a:latin typeface="Arial"/>
                <a:ea typeface="Arial"/>
                <a:cs typeface="Arial"/>
              </a:rPr>
              <a:t>DA2 evidence is implemented</a:t>
            </a:r>
          </a:p>
        </p:txBody>
      </p:sp>
      <p:sp>
        <p:nvSpPr>
          <p:cNvPr id="6" name="">
            <a:extLst xmlns:a="http://schemas.openxmlformats.org/drawingml/2006/main">
              <a:ext uri="{FF2B5EF4-FFF2-40B4-BE49-F238E27FC236}">
                <a16:creationId xmlns:a16="http://schemas.microsoft.com/office/drawing/2014/main" id="{1F0E64F8-8CE0-4B65-A6F4-C4BF101CACCB}"/>
              </a:ext>
            </a:extLst>
          </p:cNvPr>
          <p:cNvSpPr>
            <a:spLocks xmlns:a="http://schemas.openxmlformats.org/drawingml/2006/main" noGrp="1"/>
          </p:cNvSpPr>
          <p:nvPr/>
        </p:nvSpPr>
        <p:spPr>
          <a:xfrm xmlns:a="http://schemas.openxmlformats.org/drawingml/2006/main">
            <a:off x="7143750" y="2000250"/>
            <a:ext cx="45339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A3A"/>
                </a:solidFill>
                <a:latin typeface="Arial"/>
                <a:ea typeface="Arial"/>
                <a:cs typeface="Arial"/>
              </a:defRPr>
            </a:pPr>
            <a:r>
              <a:rPr sz="1950" b="0">
                <a:solidFill>
                  <a:srgbClr val="172A3A"/>
                </a:solidFill>
                <a:latin typeface="Arial"/>
                <a:ea typeface="Arial"/>
                <a:cs typeface="Arial"/>
              </a:rPr>
              <a:t>SQLite retrieval and 56 features</a:t>
            </a:r>
          </a:p>
          <a:p xmlns:a="http://schemas.openxmlformats.org/drawingml/2006/main">
            <a:pPr>
              <a:defRPr sz="1950" b="0">
                <a:solidFill>
                  <a:srgbClr val="172A3A"/>
                </a:solidFill>
                <a:latin typeface="Arial"/>
                <a:ea typeface="Arial"/>
                <a:cs typeface="Arial"/>
              </a:defRPr>
            </a:pPr>
            <a:r>
              <a:rPr sz="1950" b="0">
                <a:solidFill>
                  <a:srgbClr val="172A3A"/>
                </a:solidFill>
                <a:latin typeface="Arial"/>
                <a:ea typeface="Arial"/>
                <a:cs typeface="Arial"/>
              </a:rPr>
              <a:t>12 models with bounded tuning</a:t>
            </a:r>
          </a:p>
          <a:p xmlns:a="http://schemas.openxmlformats.org/drawingml/2006/main">
            <a:pPr>
              <a:defRPr sz="1950" b="0">
                <a:solidFill>
                  <a:srgbClr val="172A3A"/>
                </a:solidFill>
                <a:latin typeface="Arial"/>
                <a:ea typeface="Arial"/>
                <a:cs typeface="Arial"/>
              </a:defRPr>
            </a:pPr>
            <a:r>
              <a:rPr sz="1950" b="0">
                <a:solidFill>
                  <a:srgbClr val="172A3A"/>
                </a:solidFill>
                <a:latin typeface="Arial"/>
                <a:ea typeface="Arial"/>
                <a:cs typeface="Arial"/>
              </a:rPr>
              <a:t>Metrics and comparative graphics</a:t>
            </a:r>
          </a:p>
          <a:p xmlns:a="http://schemas.openxmlformats.org/drawingml/2006/main">
            <a:pPr>
              <a:defRPr sz="1950" b="0">
                <a:solidFill>
                  <a:srgbClr val="172A3A"/>
                </a:solidFill>
                <a:latin typeface="Arial"/>
                <a:ea typeface="Arial"/>
                <a:cs typeface="Arial"/>
              </a:defRPr>
            </a:pPr>
            <a:r>
              <a:rPr sz="1950" b="0">
                <a:solidFill>
                  <a:srgbClr val="172A3A"/>
                </a:solidFill>
                <a:latin typeface="Arial"/>
                <a:ea typeface="Arial"/>
                <a:cs typeface="Arial"/>
              </a:rPr>
              <a:t>Report, code and result snapshot</a:t>
            </a:r>
          </a:p>
        </p:txBody>
      </p:sp>
      <p:sp>
        <p:nvSpPr>
          <p:cNvPr id="7" name="">
            <a:extLst xmlns:a="http://schemas.openxmlformats.org/drawingml/2006/main">
              <a:ext uri="{FF2B5EF4-FFF2-40B4-BE49-F238E27FC236}">
                <a16:creationId xmlns:a16="http://schemas.microsoft.com/office/drawing/2014/main" id="{E61B5176-CA50-44E6-BDDB-06DD513D69F9}"/>
              </a:ext>
            </a:extLst>
          </p:cNvPr>
          <p:cNvSpPr>
            <a:spLocks xmlns:a="http://schemas.openxmlformats.org/drawingml/2006/main" noGrp="1"/>
          </p:cNvSpPr>
          <p:nvPr/>
        </p:nvSpPr>
        <p:spPr>
          <a:xfrm xmlns:a="http://schemas.openxmlformats.org/drawingml/2006/main">
            <a:off x="7143750" y="4162425"/>
            <a:ext cx="452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A3A"/>
                </a:solidFill>
                <a:latin typeface="Arial"/>
                <a:ea typeface="Arial"/>
                <a:cs typeface="Arial"/>
              </a:defRPr>
            </a:pPr>
            <a:r>
              <a:rPr sz="2250" b="1">
                <a:solidFill>
                  <a:srgbClr val="172A3A"/>
                </a:solidFill>
                <a:latin typeface="Arial"/>
                <a:ea typeface="Arial"/>
                <a:cs typeface="Arial"/>
              </a:rPr>
              <a:t>Limitations and next work</a:t>
            </a:r>
          </a:p>
        </p:txBody>
      </p:sp>
      <p:sp>
        <p:nvSpPr>
          <p:cNvPr id="8" name="">
            <a:extLst xmlns:a="http://schemas.openxmlformats.org/drawingml/2006/main">
              <a:ext uri="{FF2B5EF4-FFF2-40B4-BE49-F238E27FC236}">
                <a16:creationId xmlns:a16="http://schemas.microsoft.com/office/drawing/2014/main" id="{89E1C7C9-E1D6-4174-84FD-1874E51F6591}"/>
              </a:ext>
            </a:extLst>
          </p:cNvPr>
          <p:cNvSpPr>
            <a:spLocks xmlns:a="http://schemas.openxmlformats.org/drawingml/2006/main" noGrp="1"/>
          </p:cNvSpPr>
          <p:nvPr/>
        </p:nvSpPr>
        <p:spPr>
          <a:xfrm xmlns:a="http://schemas.openxmlformats.org/drawingml/2006/main">
            <a:off x="7143750" y="4724400"/>
            <a:ext cx="448627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A3A"/>
                </a:solidFill>
                <a:latin typeface="Arial"/>
                <a:ea typeface="Arial"/>
                <a:cs typeface="Arial"/>
              </a:defRPr>
            </a:pPr>
            <a:r>
              <a:rPr sz="1950" b="0">
                <a:solidFill>
                  <a:srgbClr val="172A3A"/>
                </a:solidFill>
                <a:latin typeface="Arial"/>
                <a:ea typeface="Arial"/>
                <a:cs typeface="Arial"/>
              </a:rPr>
              <a:t>Single split and sparse map support</a:t>
            </a:r>
          </a:p>
          <a:p xmlns:a="http://schemas.openxmlformats.org/drawingml/2006/main">
            <a:pPr>
              <a:defRPr sz="1950" b="0">
                <a:solidFill>
                  <a:srgbClr val="172A3A"/>
                </a:solidFill>
                <a:latin typeface="Arial"/>
                <a:ea typeface="Arial"/>
                <a:cs typeface="Arial"/>
              </a:defRPr>
            </a:pPr>
            <a:r>
              <a:rPr sz="1950" b="0">
                <a:solidFill>
                  <a:srgbClr val="172A3A"/>
                </a:solidFill>
                <a:latin typeface="Arial"/>
                <a:ea typeface="Arial"/>
                <a:cs typeface="Arial"/>
              </a:rPr>
              <a:t>Native Linux and peak RAM checks</a:t>
            </a:r>
          </a:p>
          <a:p xmlns:a="http://schemas.openxmlformats.org/drawingml/2006/main">
            <a:pPr>
              <a:defRPr sz="1950" b="0">
                <a:solidFill>
                  <a:srgbClr val="172A3A"/>
                </a:solidFill>
                <a:latin typeface="Arial"/>
                <a:ea typeface="Arial"/>
                <a:cs typeface="Arial"/>
              </a:defRPr>
            </a:pPr>
            <a:r>
              <a:rPr sz="1950" b="0">
                <a:solidFill>
                  <a:srgbClr val="172A3A"/>
                </a:solidFill>
                <a:latin typeface="Arial"/>
                <a:ea typeface="Arial"/>
                <a:cs typeface="Arial"/>
              </a:rPr>
              <a:t>Opportunity labels for true xK</a:t>
            </a:r>
          </a:p>
        </p:txBody>
      </p:sp>
      <p:sp>
        <p:nvSpPr>
          <p:cNvPr id="9" name="">
            <a:extLst xmlns:a="http://schemas.openxmlformats.org/drawingml/2006/main">
              <a:ext uri="{FF2B5EF4-FFF2-40B4-BE49-F238E27FC236}">
                <a16:creationId xmlns:a16="http://schemas.microsoft.com/office/drawing/2014/main" id="{973E591C-4308-4472-83A0-6E3574231404}"/>
              </a:ext>
            </a:extLst>
          </p:cNvPr>
          <p:cNvSpPr>
            <a:spLocks xmlns:a="http://schemas.openxmlformats.org/drawingml/2006/main" noGrp="1"/>
          </p:cNvSpPr>
          <p:nvPr/>
        </p:nvSpPr>
        <p:spPr>
          <a:xfrm xmlns:a="http://schemas.openxmlformats.org/drawingml/2006/main">
            <a:off x="533400" y="5591175"/>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7C88"/>
                </a:solidFill>
                <a:latin typeface="Arial"/>
                <a:ea typeface="Arial"/>
                <a:cs typeface="Arial"/>
              </a:defRPr>
            </a:pPr>
            <a:r>
              <a:rPr sz="2100" b="1">
                <a:solidFill>
                  <a:srgbClr val="207C88"/>
                </a:solidFill>
                <a:latin typeface="Arial"/>
                <a:ea typeface="Arial"/>
                <a:cs typeface="Arial"/>
              </a:rPr>
              <a:t>github.com/Caust2c/csgo-xd</a:t>
            </a:r>
          </a:p>
        </p:txBody>
      </p:sp>
      <p:sp>
        <p:nvSpPr>
          <p:cNvPr id="10" name="">
            <a:extLst xmlns:a="http://schemas.openxmlformats.org/drawingml/2006/main">
              <a:ext uri="{FF2B5EF4-FFF2-40B4-BE49-F238E27FC236}">
                <a16:creationId xmlns:a16="http://schemas.microsoft.com/office/drawing/2014/main" id="{129D7591-3200-4A7D-847E-A4307D25E8A4}"/>
              </a:ext>
            </a:extLst>
          </p:cNvPr>
          <p:cNvSpPr>
            <a:spLocks xmlns:a="http://schemas.openxmlformats.org/drawingml/2006/main" noGrp="1"/>
          </p:cNvSpPr>
          <p:nvPr/>
        </p:nvSpPr>
        <p:spPr>
          <a:xfrm xmlns:a="http://schemas.openxmlformats.org/drawingml/2006/main">
            <a:off x="533400" y="6096000"/>
            <a:ext cx="638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55C6B"/>
                </a:solidFill>
                <a:latin typeface="Arial"/>
                <a:ea typeface="Arial"/>
                <a:cs typeface="Arial"/>
              </a:defRPr>
            </a:pPr>
            <a:r>
              <a:rPr sz="1725" b="0">
                <a:solidFill>
                  <a:srgbClr val="455C6B"/>
                </a:solidFill>
                <a:latin typeface="Arial"/>
                <a:ea typeface="Arial"/>
                <a:cs typeface="Arial"/>
              </a:rPr>
              <a:t>Prepare the local database and trained models before class</a:t>
            </a:r>
          </a:p>
        </p:txBody>
      </p:sp>
    </p:spTree>
    <p:extLst>
      <p:ext uri="{BB962C8B-B14F-4D97-AF65-F5344CB8AC3E}">
        <p14:creationId xmlns:p14="http://schemas.microsoft.com/office/powerpoint/2010/main" val="7721377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2026-10-07T17:34:57.9350000Z</dcterms:created>
  <dcterms:modified xsi:type="dcterms:W3CDTF">2026-10-07T17:34:57.9350000Z</dcterms:modified>
</coreProperties>
</file>